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3" r:id="rId9"/>
    <p:sldId id="262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3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3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3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Medication </a:t>
            </a:r>
          </a:p>
          <a:p>
            <a:pPr>
              <a:defRPr/>
            </a:pPr>
            <a:r>
              <a:rPr lang="en-US" sz="1100"/>
              <a:t>(counts)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D11-404D-9861-50787BD7D36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Sheet1!$A$1:$A$3</c:f>
              <c:strCache>
                <c:ptCount val="3"/>
                <c:pt idx="0">
                  <c:v>High Risk</c:v>
                </c:pt>
                <c:pt idx="1">
                  <c:v>Low Risk</c:v>
                </c:pt>
                <c:pt idx="2">
                  <c:v>Moderate Risk</c:v>
                </c:pt>
              </c:strCache>
            </c:strRef>
          </c:cat>
          <c:val>
            <c:numRef>
              <c:f>Sheet1!$B$1:$B$3</c:f>
              <c:numCache>
                <c:formatCode>General</c:formatCode>
                <c:ptCount val="3"/>
                <c:pt idx="0">
                  <c:v>17.52</c:v>
                </c:pt>
                <c:pt idx="1">
                  <c:v>15.64</c:v>
                </c:pt>
                <c:pt idx="2">
                  <c:v>16.57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11-404D-9861-50787BD7D3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613948863"/>
        <c:axId val="613950207"/>
      </c:barChart>
      <c:catAx>
        <c:axId val="6139488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3950207"/>
        <c:crosses val="autoZero"/>
        <c:auto val="1"/>
        <c:lblAlgn val="ctr"/>
        <c:lblOffset val="100"/>
        <c:noMultiLvlLbl val="0"/>
      </c:catAx>
      <c:valAx>
        <c:axId val="61395020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139488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Labs </a:t>
            </a:r>
          </a:p>
          <a:p>
            <a:pPr>
              <a:defRPr/>
            </a:pPr>
            <a:r>
              <a:rPr lang="en-US" sz="11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(counts)</a:t>
            </a:r>
            <a:endParaRPr lang="en-US" sz="11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F9C-C140-9629-C3C486E339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Sheet1!$A$1:$A$3</c:f>
              <c:strCache>
                <c:ptCount val="3"/>
                <c:pt idx="0">
                  <c:v>High Risk</c:v>
                </c:pt>
                <c:pt idx="1">
                  <c:v>Low Risk</c:v>
                </c:pt>
                <c:pt idx="2">
                  <c:v>Moderate Risk</c:v>
                </c:pt>
              </c:strCache>
            </c:strRef>
          </c:cat>
          <c:val>
            <c:numRef>
              <c:f>Sheet1!$C$1:$C$3</c:f>
              <c:numCache>
                <c:formatCode>General</c:formatCode>
                <c:ptCount val="3"/>
                <c:pt idx="0">
                  <c:v>45.37</c:v>
                </c:pt>
                <c:pt idx="1">
                  <c:v>45.37</c:v>
                </c:pt>
                <c:pt idx="2">
                  <c:v>45.37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9C-C140-9629-C3C486E3392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645302911"/>
        <c:axId val="614694207"/>
      </c:barChart>
      <c:catAx>
        <c:axId val="6453029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4694207"/>
        <c:crosses val="autoZero"/>
        <c:auto val="1"/>
        <c:lblAlgn val="ctr"/>
        <c:lblOffset val="100"/>
        <c:noMultiLvlLbl val="0"/>
      </c:catAx>
      <c:valAx>
        <c:axId val="61469420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453029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ER Visits </a:t>
            </a:r>
          </a:p>
          <a:p>
            <a:pPr>
              <a:defRPr/>
            </a:pPr>
            <a:r>
              <a:rPr lang="en-US" sz="11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(counts)</a:t>
            </a:r>
            <a:endParaRPr lang="en-US" sz="11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9BE-754F-96BA-DB85F2361EF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Sheet1!$A$1:$A$3</c:f>
              <c:strCache>
                <c:ptCount val="3"/>
                <c:pt idx="0">
                  <c:v>High Risk</c:v>
                </c:pt>
                <c:pt idx="1">
                  <c:v>Low Risk</c:v>
                </c:pt>
                <c:pt idx="2">
                  <c:v>Moderate Risk</c:v>
                </c:pt>
              </c:strCache>
            </c:strRef>
          </c:cat>
          <c:val>
            <c:numRef>
              <c:f>Sheet1!$D$1:$D$3</c:f>
              <c:numCache>
                <c:formatCode>General</c:formatCode>
                <c:ptCount val="3"/>
                <c:pt idx="0">
                  <c:v>0.89</c:v>
                </c:pt>
                <c:pt idx="1">
                  <c:v>0.09</c:v>
                </c:pt>
                <c:pt idx="2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BE-754F-96BA-DB85F2361EF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645310527"/>
        <c:axId val="613844287"/>
      </c:barChart>
      <c:catAx>
        <c:axId val="6453105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3844287"/>
        <c:crosses val="autoZero"/>
        <c:auto val="1"/>
        <c:lblAlgn val="ctr"/>
        <c:lblOffset val="100"/>
        <c:noMultiLvlLbl val="0"/>
      </c:catAx>
      <c:valAx>
        <c:axId val="61384428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45310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7.png"/><Relationship Id="rId7" Type="http://schemas.openxmlformats.org/officeDocument/2006/relationships/image" Target="../media/image12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7.png"/><Relationship Id="rId7" Type="http://schemas.openxmlformats.org/officeDocument/2006/relationships/image" Target="../media/image12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DBBA71-0E5D-4D14-96DF-F1A4B7459C8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198C28-0566-4FB9-9800-4A32D189B0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Readmissions increase hospital penalties</a:t>
          </a:r>
          <a:endParaRPr lang="en-US"/>
        </a:p>
      </dgm:t>
    </dgm:pt>
    <dgm:pt modelId="{E18035DB-5098-472B-8BEC-4A28224D3E15}" type="parTrans" cxnId="{F947C495-2FFB-4BB8-B34E-2102A55FB9E0}">
      <dgm:prSet/>
      <dgm:spPr/>
      <dgm:t>
        <a:bodyPr/>
        <a:lstStyle/>
        <a:p>
          <a:endParaRPr lang="en-US"/>
        </a:p>
      </dgm:t>
    </dgm:pt>
    <dgm:pt modelId="{1C6913CE-A7FB-4026-B679-430B66848CF4}" type="sibTrans" cxnId="{F947C495-2FFB-4BB8-B34E-2102A55FB9E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AD1A478-77C6-44AB-99B0-FD8EB2CFE7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Strain staff capacity</a:t>
          </a:r>
          <a:endParaRPr lang="en-US"/>
        </a:p>
      </dgm:t>
    </dgm:pt>
    <dgm:pt modelId="{88BDF7EA-A62C-489A-AFD1-D9E9C9D5EF75}" type="parTrans" cxnId="{68B12117-64EC-4960-B575-D2A5C3ECE24D}">
      <dgm:prSet/>
      <dgm:spPr/>
      <dgm:t>
        <a:bodyPr/>
        <a:lstStyle/>
        <a:p>
          <a:endParaRPr lang="en-US"/>
        </a:p>
      </dgm:t>
    </dgm:pt>
    <dgm:pt modelId="{61C49A7F-32E4-47A0-87D7-B3B575A2513D}" type="sibTrans" cxnId="{68B12117-64EC-4960-B575-D2A5C3ECE24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31C58BF-C16C-42E0-A535-CCEE3BD0A2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Signal gaps in care continuity</a:t>
          </a:r>
          <a:endParaRPr lang="en-US"/>
        </a:p>
      </dgm:t>
    </dgm:pt>
    <dgm:pt modelId="{C4DB5572-94CB-4F4A-B147-3843E049E644}" type="parTrans" cxnId="{44BD529D-09BA-4C25-B5CC-3C365A40AEFB}">
      <dgm:prSet/>
      <dgm:spPr/>
      <dgm:t>
        <a:bodyPr/>
        <a:lstStyle/>
        <a:p>
          <a:endParaRPr lang="en-US"/>
        </a:p>
      </dgm:t>
    </dgm:pt>
    <dgm:pt modelId="{13BCBDED-D491-452F-B146-597069904546}" type="sibTrans" cxnId="{44BD529D-09BA-4C25-B5CC-3C365A40AEF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F8B089C-02DA-4CF9-AB91-2AD7857E0E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Reduces quality ratings</a:t>
          </a:r>
          <a:endParaRPr lang="en-US" dirty="0"/>
        </a:p>
      </dgm:t>
    </dgm:pt>
    <dgm:pt modelId="{E3CCA0BD-9E66-4C4B-9A00-D1D3F739C75A}" type="parTrans" cxnId="{CD97B2DD-8992-4462-BCF6-249DC63E4F81}">
      <dgm:prSet/>
      <dgm:spPr/>
      <dgm:t>
        <a:bodyPr/>
        <a:lstStyle/>
        <a:p>
          <a:endParaRPr lang="en-US"/>
        </a:p>
      </dgm:t>
    </dgm:pt>
    <dgm:pt modelId="{2D1027D3-7384-4BE4-B358-A9AEECC24FE8}" type="sibTrans" cxnId="{CD97B2DD-8992-4462-BCF6-249DC63E4F81}">
      <dgm:prSet/>
      <dgm:spPr/>
      <dgm:t>
        <a:bodyPr/>
        <a:lstStyle/>
        <a:p>
          <a:endParaRPr lang="en-US"/>
        </a:p>
      </dgm:t>
    </dgm:pt>
    <dgm:pt modelId="{E99629DA-D414-4560-8743-ADD4E0F2FC95}" type="pres">
      <dgm:prSet presAssocID="{C0DBBA71-0E5D-4D14-96DF-F1A4B7459C84}" presName="root" presStyleCnt="0">
        <dgm:presLayoutVars>
          <dgm:dir/>
          <dgm:resizeHandles val="exact"/>
        </dgm:presLayoutVars>
      </dgm:prSet>
      <dgm:spPr/>
    </dgm:pt>
    <dgm:pt modelId="{CC325743-5EB1-4C84-A81C-A49C604F4B8B}" type="pres">
      <dgm:prSet presAssocID="{C0DBBA71-0E5D-4D14-96DF-F1A4B7459C84}" presName="container" presStyleCnt="0">
        <dgm:presLayoutVars>
          <dgm:dir/>
          <dgm:resizeHandles val="exact"/>
        </dgm:presLayoutVars>
      </dgm:prSet>
      <dgm:spPr/>
    </dgm:pt>
    <dgm:pt modelId="{ACD14D08-6A70-4281-96BF-755C0C803B97}" type="pres">
      <dgm:prSet presAssocID="{CA198C28-0566-4FB9-9800-4A32D189B0A3}" presName="compNode" presStyleCnt="0"/>
      <dgm:spPr/>
    </dgm:pt>
    <dgm:pt modelId="{82C64547-AFF7-438E-8C9C-543FA75B329F}" type="pres">
      <dgm:prSet presAssocID="{CA198C28-0566-4FB9-9800-4A32D189B0A3}" presName="iconBgRect" presStyleLbl="bgShp" presStyleIdx="0" presStyleCnt="4"/>
      <dgm:spPr/>
    </dgm:pt>
    <dgm:pt modelId="{71CBC8AD-1356-4A91-8909-853B59C9375B}" type="pres">
      <dgm:prSet presAssocID="{CA198C28-0566-4FB9-9800-4A32D189B0A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BCAB4868-050A-4673-875B-D4160EF22F25}" type="pres">
      <dgm:prSet presAssocID="{CA198C28-0566-4FB9-9800-4A32D189B0A3}" presName="spaceRect" presStyleCnt="0"/>
      <dgm:spPr/>
    </dgm:pt>
    <dgm:pt modelId="{04372C5F-8D77-41C5-AF59-26309F2A123A}" type="pres">
      <dgm:prSet presAssocID="{CA198C28-0566-4FB9-9800-4A32D189B0A3}" presName="textRect" presStyleLbl="revTx" presStyleIdx="0" presStyleCnt="4">
        <dgm:presLayoutVars>
          <dgm:chMax val="1"/>
          <dgm:chPref val="1"/>
        </dgm:presLayoutVars>
      </dgm:prSet>
      <dgm:spPr/>
    </dgm:pt>
    <dgm:pt modelId="{625450EA-4D8B-46A4-A167-11104BADFB75}" type="pres">
      <dgm:prSet presAssocID="{1C6913CE-A7FB-4026-B679-430B66848CF4}" presName="sibTrans" presStyleLbl="sibTrans2D1" presStyleIdx="0" presStyleCnt="0"/>
      <dgm:spPr/>
    </dgm:pt>
    <dgm:pt modelId="{2C4041BD-8403-4303-B9F7-A1CB666825D3}" type="pres">
      <dgm:prSet presAssocID="{0AD1A478-77C6-44AB-99B0-FD8EB2CFE79B}" presName="compNode" presStyleCnt="0"/>
      <dgm:spPr/>
    </dgm:pt>
    <dgm:pt modelId="{4D350FAF-07DE-4DEB-86DE-1FED5DBE0480}" type="pres">
      <dgm:prSet presAssocID="{0AD1A478-77C6-44AB-99B0-FD8EB2CFE79B}" presName="iconBgRect" presStyleLbl="bgShp" presStyleIdx="1" presStyleCnt="4"/>
      <dgm:spPr/>
    </dgm:pt>
    <dgm:pt modelId="{26DABB25-528E-4BB1-855C-DBE3420752C0}" type="pres">
      <dgm:prSet presAssocID="{0AD1A478-77C6-44AB-99B0-FD8EB2CFE79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60E75F62-6B27-4458-8C01-A56EA95C4E8C}" type="pres">
      <dgm:prSet presAssocID="{0AD1A478-77C6-44AB-99B0-FD8EB2CFE79B}" presName="spaceRect" presStyleCnt="0"/>
      <dgm:spPr/>
    </dgm:pt>
    <dgm:pt modelId="{FFAB0176-86D4-4D61-8003-E50BDA0A8636}" type="pres">
      <dgm:prSet presAssocID="{0AD1A478-77C6-44AB-99B0-FD8EB2CFE79B}" presName="textRect" presStyleLbl="revTx" presStyleIdx="1" presStyleCnt="4">
        <dgm:presLayoutVars>
          <dgm:chMax val="1"/>
          <dgm:chPref val="1"/>
        </dgm:presLayoutVars>
      </dgm:prSet>
      <dgm:spPr/>
    </dgm:pt>
    <dgm:pt modelId="{26B1222C-03FA-4491-9604-D658A9073AF7}" type="pres">
      <dgm:prSet presAssocID="{61C49A7F-32E4-47A0-87D7-B3B575A2513D}" presName="sibTrans" presStyleLbl="sibTrans2D1" presStyleIdx="0" presStyleCnt="0"/>
      <dgm:spPr/>
    </dgm:pt>
    <dgm:pt modelId="{36F16926-1419-41E0-8AF6-A4EB3CCBEB52}" type="pres">
      <dgm:prSet presAssocID="{931C58BF-C16C-42E0-A535-CCEE3BD0A2C8}" presName="compNode" presStyleCnt="0"/>
      <dgm:spPr/>
    </dgm:pt>
    <dgm:pt modelId="{204D6D8D-1922-4428-8BDF-B7B55FBD3FCE}" type="pres">
      <dgm:prSet presAssocID="{931C58BF-C16C-42E0-A535-CCEE3BD0A2C8}" presName="iconBgRect" presStyleLbl="bgShp" presStyleIdx="2" presStyleCnt="4"/>
      <dgm:spPr/>
    </dgm:pt>
    <dgm:pt modelId="{F053599F-E2D8-453E-9CF9-58F014DA6FB6}" type="pres">
      <dgm:prSet presAssocID="{931C58BF-C16C-42E0-A535-CCEE3BD0A2C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5682700-BB2E-49CB-905B-B6444CBDB804}" type="pres">
      <dgm:prSet presAssocID="{931C58BF-C16C-42E0-A535-CCEE3BD0A2C8}" presName="spaceRect" presStyleCnt="0"/>
      <dgm:spPr/>
    </dgm:pt>
    <dgm:pt modelId="{BAF97C96-7498-4163-A2FA-20F95E52AE32}" type="pres">
      <dgm:prSet presAssocID="{931C58BF-C16C-42E0-A535-CCEE3BD0A2C8}" presName="textRect" presStyleLbl="revTx" presStyleIdx="2" presStyleCnt="4">
        <dgm:presLayoutVars>
          <dgm:chMax val="1"/>
          <dgm:chPref val="1"/>
        </dgm:presLayoutVars>
      </dgm:prSet>
      <dgm:spPr/>
    </dgm:pt>
    <dgm:pt modelId="{0427E515-9646-4305-BA79-0BA7C2018FDE}" type="pres">
      <dgm:prSet presAssocID="{13BCBDED-D491-452F-B146-597069904546}" presName="sibTrans" presStyleLbl="sibTrans2D1" presStyleIdx="0" presStyleCnt="0"/>
      <dgm:spPr/>
    </dgm:pt>
    <dgm:pt modelId="{A8DD2618-541A-4922-8278-254A3A9E4AEE}" type="pres">
      <dgm:prSet presAssocID="{4F8B089C-02DA-4CF9-AB91-2AD7857E0EEF}" presName="compNode" presStyleCnt="0"/>
      <dgm:spPr/>
    </dgm:pt>
    <dgm:pt modelId="{F3E119DB-B91E-4628-AE65-A6C43EB9C60D}" type="pres">
      <dgm:prSet presAssocID="{4F8B089C-02DA-4CF9-AB91-2AD7857E0EEF}" presName="iconBgRect" presStyleLbl="bgShp" presStyleIdx="3" presStyleCnt="4"/>
      <dgm:spPr/>
    </dgm:pt>
    <dgm:pt modelId="{E37C4FE3-B239-4427-AAAA-0E08D08BCE4B}" type="pres">
      <dgm:prSet presAssocID="{4F8B089C-02DA-4CF9-AB91-2AD7857E0EE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4ADD75C0-0093-4810-BFD0-3291A9230636}" type="pres">
      <dgm:prSet presAssocID="{4F8B089C-02DA-4CF9-AB91-2AD7857E0EEF}" presName="spaceRect" presStyleCnt="0"/>
      <dgm:spPr/>
    </dgm:pt>
    <dgm:pt modelId="{C06B513B-413E-4669-96BF-FA5B8897B686}" type="pres">
      <dgm:prSet presAssocID="{4F8B089C-02DA-4CF9-AB91-2AD7857E0EE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BB6C40D-481C-4C63-BA3F-29F9422CFE8A}" type="presOf" srcId="{4F8B089C-02DA-4CF9-AB91-2AD7857E0EEF}" destId="{C06B513B-413E-4669-96BF-FA5B8897B686}" srcOrd="0" destOrd="0" presId="urn:microsoft.com/office/officeart/2018/2/layout/IconCircleList"/>
    <dgm:cxn modelId="{68B12117-64EC-4960-B575-D2A5C3ECE24D}" srcId="{C0DBBA71-0E5D-4D14-96DF-F1A4B7459C84}" destId="{0AD1A478-77C6-44AB-99B0-FD8EB2CFE79B}" srcOrd="1" destOrd="0" parTransId="{88BDF7EA-A62C-489A-AFD1-D9E9C9D5EF75}" sibTransId="{61C49A7F-32E4-47A0-87D7-B3B575A2513D}"/>
    <dgm:cxn modelId="{A109A034-E4A0-4095-81D2-5B351D0829AA}" type="presOf" srcId="{C0DBBA71-0E5D-4D14-96DF-F1A4B7459C84}" destId="{E99629DA-D414-4560-8743-ADD4E0F2FC95}" srcOrd="0" destOrd="0" presId="urn:microsoft.com/office/officeart/2018/2/layout/IconCircleList"/>
    <dgm:cxn modelId="{F5353635-F982-48C2-A835-4BB115643B79}" type="presOf" srcId="{CA198C28-0566-4FB9-9800-4A32D189B0A3}" destId="{04372C5F-8D77-41C5-AF59-26309F2A123A}" srcOrd="0" destOrd="0" presId="urn:microsoft.com/office/officeart/2018/2/layout/IconCircleList"/>
    <dgm:cxn modelId="{DF978F72-33F4-46EB-A69C-87BB211858AA}" type="presOf" srcId="{1C6913CE-A7FB-4026-B679-430B66848CF4}" destId="{625450EA-4D8B-46A4-A167-11104BADFB75}" srcOrd="0" destOrd="0" presId="urn:microsoft.com/office/officeart/2018/2/layout/IconCircleList"/>
    <dgm:cxn modelId="{3478427C-77CF-4CAD-B7BA-2D6F3964195D}" type="presOf" srcId="{931C58BF-C16C-42E0-A535-CCEE3BD0A2C8}" destId="{BAF97C96-7498-4163-A2FA-20F95E52AE32}" srcOrd="0" destOrd="0" presId="urn:microsoft.com/office/officeart/2018/2/layout/IconCircleList"/>
    <dgm:cxn modelId="{1C9D008E-9799-4B40-B490-D70E53066825}" type="presOf" srcId="{13BCBDED-D491-452F-B146-597069904546}" destId="{0427E515-9646-4305-BA79-0BA7C2018FDE}" srcOrd="0" destOrd="0" presId="urn:microsoft.com/office/officeart/2018/2/layout/IconCircleList"/>
    <dgm:cxn modelId="{F947C495-2FFB-4BB8-B34E-2102A55FB9E0}" srcId="{C0DBBA71-0E5D-4D14-96DF-F1A4B7459C84}" destId="{CA198C28-0566-4FB9-9800-4A32D189B0A3}" srcOrd="0" destOrd="0" parTransId="{E18035DB-5098-472B-8BEC-4A28224D3E15}" sibTransId="{1C6913CE-A7FB-4026-B679-430B66848CF4}"/>
    <dgm:cxn modelId="{44BD529D-09BA-4C25-B5CC-3C365A40AEFB}" srcId="{C0DBBA71-0E5D-4D14-96DF-F1A4B7459C84}" destId="{931C58BF-C16C-42E0-A535-CCEE3BD0A2C8}" srcOrd="2" destOrd="0" parTransId="{C4DB5572-94CB-4F4A-B147-3843E049E644}" sibTransId="{13BCBDED-D491-452F-B146-597069904546}"/>
    <dgm:cxn modelId="{77D81AC8-6A0C-4FF0-84C3-1BE6BC068A12}" type="presOf" srcId="{61C49A7F-32E4-47A0-87D7-B3B575A2513D}" destId="{26B1222C-03FA-4491-9604-D658A9073AF7}" srcOrd="0" destOrd="0" presId="urn:microsoft.com/office/officeart/2018/2/layout/IconCircleList"/>
    <dgm:cxn modelId="{FFFA1CCA-4E62-4036-84EA-2384A2585940}" type="presOf" srcId="{0AD1A478-77C6-44AB-99B0-FD8EB2CFE79B}" destId="{FFAB0176-86D4-4D61-8003-E50BDA0A8636}" srcOrd="0" destOrd="0" presId="urn:microsoft.com/office/officeart/2018/2/layout/IconCircleList"/>
    <dgm:cxn modelId="{CD97B2DD-8992-4462-BCF6-249DC63E4F81}" srcId="{C0DBBA71-0E5D-4D14-96DF-F1A4B7459C84}" destId="{4F8B089C-02DA-4CF9-AB91-2AD7857E0EEF}" srcOrd="3" destOrd="0" parTransId="{E3CCA0BD-9E66-4C4B-9A00-D1D3F739C75A}" sibTransId="{2D1027D3-7384-4BE4-B358-A9AEECC24FE8}"/>
    <dgm:cxn modelId="{1CF21047-AD19-4C29-8BBF-25623D533AE0}" type="presParOf" srcId="{E99629DA-D414-4560-8743-ADD4E0F2FC95}" destId="{CC325743-5EB1-4C84-A81C-A49C604F4B8B}" srcOrd="0" destOrd="0" presId="urn:microsoft.com/office/officeart/2018/2/layout/IconCircleList"/>
    <dgm:cxn modelId="{E844461A-F7F9-406B-AF45-AEDAB8DC346C}" type="presParOf" srcId="{CC325743-5EB1-4C84-A81C-A49C604F4B8B}" destId="{ACD14D08-6A70-4281-96BF-755C0C803B97}" srcOrd="0" destOrd="0" presId="urn:microsoft.com/office/officeart/2018/2/layout/IconCircleList"/>
    <dgm:cxn modelId="{20CD9562-4759-4AB5-BCD6-0C12A1B5FC53}" type="presParOf" srcId="{ACD14D08-6A70-4281-96BF-755C0C803B97}" destId="{82C64547-AFF7-438E-8C9C-543FA75B329F}" srcOrd="0" destOrd="0" presId="urn:microsoft.com/office/officeart/2018/2/layout/IconCircleList"/>
    <dgm:cxn modelId="{37F363EE-591F-4BE5-B20B-B6E26638AE66}" type="presParOf" srcId="{ACD14D08-6A70-4281-96BF-755C0C803B97}" destId="{71CBC8AD-1356-4A91-8909-853B59C9375B}" srcOrd="1" destOrd="0" presId="urn:microsoft.com/office/officeart/2018/2/layout/IconCircleList"/>
    <dgm:cxn modelId="{67654D7B-B8BF-4B18-B798-B83372C2C685}" type="presParOf" srcId="{ACD14D08-6A70-4281-96BF-755C0C803B97}" destId="{BCAB4868-050A-4673-875B-D4160EF22F25}" srcOrd="2" destOrd="0" presId="urn:microsoft.com/office/officeart/2018/2/layout/IconCircleList"/>
    <dgm:cxn modelId="{1B920535-A3F6-4E79-AE98-C8B5075D3B81}" type="presParOf" srcId="{ACD14D08-6A70-4281-96BF-755C0C803B97}" destId="{04372C5F-8D77-41C5-AF59-26309F2A123A}" srcOrd="3" destOrd="0" presId="urn:microsoft.com/office/officeart/2018/2/layout/IconCircleList"/>
    <dgm:cxn modelId="{3E15FE7F-19D6-445C-902E-12A412B0FDEF}" type="presParOf" srcId="{CC325743-5EB1-4C84-A81C-A49C604F4B8B}" destId="{625450EA-4D8B-46A4-A167-11104BADFB75}" srcOrd="1" destOrd="0" presId="urn:microsoft.com/office/officeart/2018/2/layout/IconCircleList"/>
    <dgm:cxn modelId="{7D61AF7D-B77B-411B-BE01-AE38333C8879}" type="presParOf" srcId="{CC325743-5EB1-4C84-A81C-A49C604F4B8B}" destId="{2C4041BD-8403-4303-B9F7-A1CB666825D3}" srcOrd="2" destOrd="0" presId="urn:microsoft.com/office/officeart/2018/2/layout/IconCircleList"/>
    <dgm:cxn modelId="{68D7A931-C9EE-424D-AC70-FD133A86F165}" type="presParOf" srcId="{2C4041BD-8403-4303-B9F7-A1CB666825D3}" destId="{4D350FAF-07DE-4DEB-86DE-1FED5DBE0480}" srcOrd="0" destOrd="0" presId="urn:microsoft.com/office/officeart/2018/2/layout/IconCircleList"/>
    <dgm:cxn modelId="{C5E1E182-A76E-4362-BF48-1395ACB277FD}" type="presParOf" srcId="{2C4041BD-8403-4303-B9F7-A1CB666825D3}" destId="{26DABB25-528E-4BB1-855C-DBE3420752C0}" srcOrd="1" destOrd="0" presId="urn:microsoft.com/office/officeart/2018/2/layout/IconCircleList"/>
    <dgm:cxn modelId="{BFDE019E-68C0-48C9-AFF9-41AB905E3768}" type="presParOf" srcId="{2C4041BD-8403-4303-B9F7-A1CB666825D3}" destId="{60E75F62-6B27-4458-8C01-A56EA95C4E8C}" srcOrd="2" destOrd="0" presId="urn:microsoft.com/office/officeart/2018/2/layout/IconCircleList"/>
    <dgm:cxn modelId="{3A109746-6ACF-45CA-BFFA-5C219B85E8A9}" type="presParOf" srcId="{2C4041BD-8403-4303-B9F7-A1CB666825D3}" destId="{FFAB0176-86D4-4D61-8003-E50BDA0A8636}" srcOrd="3" destOrd="0" presId="urn:microsoft.com/office/officeart/2018/2/layout/IconCircleList"/>
    <dgm:cxn modelId="{3EF27438-6B6F-4800-9A34-4291708C8562}" type="presParOf" srcId="{CC325743-5EB1-4C84-A81C-A49C604F4B8B}" destId="{26B1222C-03FA-4491-9604-D658A9073AF7}" srcOrd="3" destOrd="0" presId="urn:microsoft.com/office/officeart/2018/2/layout/IconCircleList"/>
    <dgm:cxn modelId="{145DE09C-45EC-4106-8DDC-14F3DFFDF8FC}" type="presParOf" srcId="{CC325743-5EB1-4C84-A81C-A49C604F4B8B}" destId="{36F16926-1419-41E0-8AF6-A4EB3CCBEB52}" srcOrd="4" destOrd="0" presId="urn:microsoft.com/office/officeart/2018/2/layout/IconCircleList"/>
    <dgm:cxn modelId="{A04ADC81-7C62-4BBA-84A2-D2346E63DD60}" type="presParOf" srcId="{36F16926-1419-41E0-8AF6-A4EB3CCBEB52}" destId="{204D6D8D-1922-4428-8BDF-B7B55FBD3FCE}" srcOrd="0" destOrd="0" presId="urn:microsoft.com/office/officeart/2018/2/layout/IconCircleList"/>
    <dgm:cxn modelId="{8E6A53E1-3F76-47B8-899C-4B6EC695ECB3}" type="presParOf" srcId="{36F16926-1419-41E0-8AF6-A4EB3CCBEB52}" destId="{F053599F-E2D8-453E-9CF9-58F014DA6FB6}" srcOrd="1" destOrd="0" presId="urn:microsoft.com/office/officeart/2018/2/layout/IconCircleList"/>
    <dgm:cxn modelId="{37539A87-8674-4E33-95A3-F337D8E2D23C}" type="presParOf" srcId="{36F16926-1419-41E0-8AF6-A4EB3CCBEB52}" destId="{55682700-BB2E-49CB-905B-B6444CBDB804}" srcOrd="2" destOrd="0" presId="urn:microsoft.com/office/officeart/2018/2/layout/IconCircleList"/>
    <dgm:cxn modelId="{52C87860-37D0-42F5-A1C6-79C94641E1BC}" type="presParOf" srcId="{36F16926-1419-41E0-8AF6-A4EB3CCBEB52}" destId="{BAF97C96-7498-4163-A2FA-20F95E52AE32}" srcOrd="3" destOrd="0" presId="urn:microsoft.com/office/officeart/2018/2/layout/IconCircleList"/>
    <dgm:cxn modelId="{561D6091-2041-426F-860F-AECCEE415D01}" type="presParOf" srcId="{CC325743-5EB1-4C84-A81C-A49C604F4B8B}" destId="{0427E515-9646-4305-BA79-0BA7C2018FDE}" srcOrd="5" destOrd="0" presId="urn:microsoft.com/office/officeart/2018/2/layout/IconCircleList"/>
    <dgm:cxn modelId="{120A0171-6434-4CBB-8964-154B0ED4A705}" type="presParOf" srcId="{CC325743-5EB1-4C84-A81C-A49C604F4B8B}" destId="{A8DD2618-541A-4922-8278-254A3A9E4AEE}" srcOrd="6" destOrd="0" presId="urn:microsoft.com/office/officeart/2018/2/layout/IconCircleList"/>
    <dgm:cxn modelId="{3CC5D072-3276-4D90-B6EC-5D9C05A209B8}" type="presParOf" srcId="{A8DD2618-541A-4922-8278-254A3A9E4AEE}" destId="{F3E119DB-B91E-4628-AE65-A6C43EB9C60D}" srcOrd="0" destOrd="0" presId="urn:microsoft.com/office/officeart/2018/2/layout/IconCircleList"/>
    <dgm:cxn modelId="{0E990A12-B48A-4073-87B2-70B02309DC44}" type="presParOf" srcId="{A8DD2618-541A-4922-8278-254A3A9E4AEE}" destId="{E37C4FE3-B239-4427-AAAA-0E08D08BCE4B}" srcOrd="1" destOrd="0" presId="urn:microsoft.com/office/officeart/2018/2/layout/IconCircleList"/>
    <dgm:cxn modelId="{81354DC2-DF2F-4A96-AB15-6DC2EC0BC564}" type="presParOf" srcId="{A8DD2618-541A-4922-8278-254A3A9E4AEE}" destId="{4ADD75C0-0093-4810-BFD0-3291A9230636}" srcOrd="2" destOrd="0" presId="urn:microsoft.com/office/officeart/2018/2/layout/IconCircleList"/>
    <dgm:cxn modelId="{79CEB310-38FC-4155-BCDE-348F414C4AF5}" type="presParOf" srcId="{A8DD2618-541A-4922-8278-254A3A9E4AEE}" destId="{C06B513B-413E-4669-96BF-FA5B8897B68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3FBEE9-7903-4099-BFCE-29BBF2D249A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C8AFB6C-7C81-4848-BE9C-506A62CF2ACF}">
      <dgm:prSet/>
      <dgm:spPr/>
      <dgm:t>
        <a:bodyPr/>
        <a:lstStyle/>
        <a:p>
          <a:r>
            <a:rPr lang="en-US" b="0" i="0"/>
            <a:t>100,000+ patient encounters</a:t>
          </a:r>
          <a:endParaRPr lang="en-US"/>
        </a:p>
      </dgm:t>
    </dgm:pt>
    <dgm:pt modelId="{983D6799-DD90-4291-BDAF-9E3943D7CFC7}" type="parTrans" cxnId="{CDC2D3A6-576B-4B5C-BE79-8D9F9147439F}">
      <dgm:prSet/>
      <dgm:spPr/>
      <dgm:t>
        <a:bodyPr/>
        <a:lstStyle/>
        <a:p>
          <a:endParaRPr lang="en-US"/>
        </a:p>
      </dgm:t>
    </dgm:pt>
    <dgm:pt modelId="{909385A6-2A5D-49FB-AE18-FE10B856336E}" type="sibTrans" cxnId="{CDC2D3A6-576B-4B5C-BE79-8D9F9147439F}">
      <dgm:prSet/>
      <dgm:spPr/>
      <dgm:t>
        <a:bodyPr/>
        <a:lstStyle/>
        <a:p>
          <a:endParaRPr lang="en-US"/>
        </a:p>
      </dgm:t>
    </dgm:pt>
    <dgm:pt modelId="{39EC571C-F01A-48A3-B117-346859AB7E99}">
      <dgm:prSet/>
      <dgm:spPr/>
      <dgm:t>
        <a:bodyPr/>
        <a:lstStyle/>
        <a:p>
          <a:r>
            <a:rPr lang="en-US" b="0" i="0"/>
            <a:t>50+ clinical variables</a:t>
          </a:r>
          <a:endParaRPr lang="en-US"/>
        </a:p>
      </dgm:t>
    </dgm:pt>
    <dgm:pt modelId="{9D9EA0CC-A242-4DD6-A8BF-37446EBF2286}" type="parTrans" cxnId="{915E71EA-A3B4-4CA6-A70D-BDA25C8AB01E}">
      <dgm:prSet/>
      <dgm:spPr/>
      <dgm:t>
        <a:bodyPr/>
        <a:lstStyle/>
        <a:p>
          <a:endParaRPr lang="en-US"/>
        </a:p>
      </dgm:t>
    </dgm:pt>
    <dgm:pt modelId="{DEAB09C1-6F58-46A8-B79C-DDA7C4A81F9F}" type="sibTrans" cxnId="{915E71EA-A3B4-4CA6-A70D-BDA25C8AB01E}">
      <dgm:prSet/>
      <dgm:spPr/>
      <dgm:t>
        <a:bodyPr/>
        <a:lstStyle/>
        <a:p>
          <a:endParaRPr lang="en-US"/>
        </a:p>
      </dgm:t>
    </dgm:pt>
    <dgm:pt modelId="{6AF1E9B6-6A81-4C6E-BEEE-52408CE0145E}">
      <dgm:prSet/>
      <dgm:spPr/>
      <dgm:t>
        <a:bodyPr/>
        <a:lstStyle/>
        <a:p>
          <a:r>
            <a:rPr lang="en-US" b="0" i="0"/>
            <a:t>Medication history</a:t>
          </a:r>
          <a:endParaRPr lang="en-US"/>
        </a:p>
      </dgm:t>
    </dgm:pt>
    <dgm:pt modelId="{A077B27F-27F7-4B5D-98B7-82D4060A16B8}" type="parTrans" cxnId="{B9A75C80-D61A-46C7-85F1-C62B922C2600}">
      <dgm:prSet/>
      <dgm:spPr/>
      <dgm:t>
        <a:bodyPr/>
        <a:lstStyle/>
        <a:p>
          <a:endParaRPr lang="en-US"/>
        </a:p>
      </dgm:t>
    </dgm:pt>
    <dgm:pt modelId="{626A8B51-EF98-48C7-AE4B-3624D59DADCE}" type="sibTrans" cxnId="{B9A75C80-D61A-46C7-85F1-C62B922C2600}">
      <dgm:prSet/>
      <dgm:spPr/>
      <dgm:t>
        <a:bodyPr/>
        <a:lstStyle/>
        <a:p>
          <a:endParaRPr lang="en-US"/>
        </a:p>
      </dgm:t>
    </dgm:pt>
    <dgm:pt modelId="{1D63F4E2-A111-4A31-8ADC-25D6DA955017}">
      <dgm:prSet/>
      <dgm:spPr/>
      <dgm:t>
        <a:bodyPr/>
        <a:lstStyle/>
        <a:p>
          <a:r>
            <a:rPr lang="en-US" b="0" i="0"/>
            <a:t>Lab results</a:t>
          </a:r>
          <a:endParaRPr lang="en-US"/>
        </a:p>
      </dgm:t>
    </dgm:pt>
    <dgm:pt modelId="{C7E5C6CA-4D63-410C-AA3B-EE79D1F6C0E0}" type="parTrans" cxnId="{9F392FAA-0B80-42C3-94F6-A793AA614111}">
      <dgm:prSet/>
      <dgm:spPr/>
      <dgm:t>
        <a:bodyPr/>
        <a:lstStyle/>
        <a:p>
          <a:endParaRPr lang="en-US"/>
        </a:p>
      </dgm:t>
    </dgm:pt>
    <dgm:pt modelId="{29FE640D-8D58-4066-B6FE-F58E9DE327E2}" type="sibTrans" cxnId="{9F392FAA-0B80-42C3-94F6-A793AA614111}">
      <dgm:prSet/>
      <dgm:spPr/>
      <dgm:t>
        <a:bodyPr/>
        <a:lstStyle/>
        <a:p>
          <a:endParaRPr lang="en-US"/>
        </a:p>
      </dgm:t>
    </dgm:pt>
    <dgm:pt modelId="{DCB830AA-5BFF-4EAB-AB16-7A5FF9AC7F3A}">
      <dgm:prSet/>
      <dgm:spPr/>
      <dgm:t>
        <a:bodyPr/>
        <a:lstStyle/>
        <a:p>
          <a:r>
            <a:rPr lang="en-US" b="0" i="0"/>
            <a:t>ER visit history</a:t>
          </a:r>
          <a:endParaRPr lang="en-US"/>
        </a:p>
      </dgm:t>
    </dgm:pt>
    <dgm:pt modelId="{B73EBA35-FE35-42C4-9F23-8E916B909C49}" type="parTrans" cxnId="{F683CE63-E194-440B-A95E-2D5D06DF3ABE}">
      <dgm:prSet/>
      <dgm:spPr/>
      <dgm:t>
        <a:bodyPr/>
        <a:lstStyle/>
        <a:p>
          <a:endParaRPr lang="en-US"/>
        </a:p>
      </dgm:t>
    </dgm:pt>
    <dgm:pt modelId="{EC3DCDFC-0D4D-4CDC-B7E1-29248F871020}" type="sibTrans" cxnId="{F683CE63-E194-440B-A95E-2D5D06DF3ABE}">
      <dgm:prSet/>
      <dgm:spPr/>
      <dgm:t>
        <a:bodyPr/>
        <a:lstStyle/>
        <a:p>
          <a:endParaRPr lang="en-US"/>
        </a:p>
      </dgm:t>
    </dgm:pt>
    <dgm:pt modelId="{16D489C7-B214-4352-ABE3-5AABAB29D39F}">
      <dgm:prSet/>
      <dgm:spPr/>
      <dgm:t>
        <a:bodyPr/>
        <a:lstStyle/>
        <a:p>
          <a:r>
            <a:rPr lang="en-US" b="0" i="0"/>
            <a:t>Goal: Predict 30-day readmission risk</a:t>
          </a:r>
          <a:endParaRPr lang="en-US"/>
        </a:p>
      </dgm:t>
    </dgm:pt>
    <dgm:pt modelId="{7CDFAC76-6053-4DD0-A80C-8BBD2FDEC60C}" type="parTrans" cxnId="{D37987BA-0ED6-410E-93F2-DCC7A21E3CD3}">
      <dgm:prSet/>
      <dgm:spPr/>
      <dgm:t>
        <a:bodyPr/>
        <a:lstStyle/>
        <a:p>
          <a:endParaRPr lang="en-US"/>
        </a:p>
      </dgm:t>
    </dgm:pt>
    <dgm:pt modelId="{8E533FB2-2A42-4643-A5EE-2231E1BE9BB1}" type="sibTrans" cxnId="{D37987BA-0ED6-410E-93F2-DCC7A21E3CD3}">
      <dgm:prSet/>
      <dgm:spPr/>
      <dgm:t>
        <a:bodyPr/>
        <a:lstStyle/>
        <a:p>
          <a:endParaRPr lang="en-US"/>
        </a:p>
      </dgm:t>
    </dgm:pt>
    <dgm:pt modelId="{03D2550A-B6DD-FE45-9151-8276A50CE01B}" type="pres">
      <dgm:prSet presAssocID="{E43FBEE9-7903-4099-BFCE-29BBF2D249AC}" presName="vert0" presStyleCnt="0">
        <dgm:presLayoutVars>
          <dgm:dir/>
          <dgm:animOne val="branch"/>
          <dgm:animLvl val="lvl"/>
        </dgm:presLayoutVars>
      </dgm:prSet>
      <dgm:spPr/>
    </dgm:pt>
    <dgm:pt modelId="{75041BC9-F93B-D845-B638-093CDC5F149E}" type="pres">
      <dgm:prSet presAssocID="{FC8AFB6C-7C81-4848-BE9C-506A62CF2ACF}" presName="thickLine" presStyleLbl="alignNode1" presStyleIdx="0" presStyleCnt="6"/>
      <dgm:spPr/>
    </dgm:pt>
    <dgm:pt modelId="{7C91752F-82A0-3F47-BA7C-85827F69837D}" type="pres">
      <dgm:prSet presAssocID="{FC8AFB6C-7C81-4848-BE9C-506A62CF2ACF}" presName="horz1" presStyleCnt="0"/>
      <dgm:spPr/>
    </dgm:pt>
    <dgm:pt modelId="{3C9AAC12-A2D7-7548-874B-0F69F8B7310F}" type="pres">
      <dgm:prSet presAssocID="{FC8AFB6C-7C81-4848-BE9C-506A62CF2ACF}" presName="tx1" presStyleLbl="revTx" presStyleIdx="0" presStyleCnt="6"/>
      <dgm:spPr/>
    </dgm:pt>
    <dgm:pt modelId="{1546254F-B2E5-034D-9CA6-7BFEEF491303}" type="pres">
      <dgm:prSet presAssocID="{FC8AFB6C-7C81-4848-BE9C-506A62CF2ACF}" presName="vert1" presStyleCnt="0"/>
      <dgm:spPr/>
    </dgm:pt>
    <dgm:pt modelId="{2DCFBE73-D24C-6849-8283-7A859D5A7301}" type="pres">
      <dgm:prSet presAssocID="{39EC571C-F01A-48A3-B117-346859AB7E99}" presName="thickLine" presStyleLbl="alignNode1" presStyleIdx="1" presStyleCnt="6"/>
      <dgm:spPr/>
    </dgm:pt>
    <dgm:pt modelId="{BBB9401E-F217-3B49-A07D-85AAB248A841}" type="pres">
      <dgm:prSet presAssocID="{39EC571C-F01A-48A3-B117-346859AB7E99}" presName="horz1" presStyleCnt="0"/>
      <dgm:spPr/>
    </dgm:pt>
    <dgm:pt modelId="{638CF4A0-8AB6-7D48-B57B-9190DF015F6B}" type="pres">
      <dgm:prSet presAssocID="{39EC571C-F01A-48A3-B117-346859AB7E99}" presName="tx1" presStyleLbl="revTx" presStyleIdx="1" presStyleCnt="6"/>
      <dgm:spPr/>
    </dgm:pt>
    <dgm:pt modelId="{1229E6A6-1A91-AF48-B3D9-5167E2CF134A}" type="pres">
      <dgm:prSet presAssocID="{39EC571C-F01A-48A3-B117-346859AB7E99}" presName="vert1" presStyleCnt="0"/>
      <dgm:spPr/>
    </dgm:pt>
    <dgm:pt modelId="{E05E1C25-1ED3-F240-BEFF-6F79DD2DF162}" type="pres">
      <dgm:prSet presAssocID="{6AF1E9B6-6A81-4C6E-BEEE-52408CE0145E}" presName="thickLine" presStyleLbl="alignNode1" presStyleIdx="2" presStyleCnt="6"/>
      <dgm:spPr/>
    </dgm:pt>
    <dgm:pt modelId="{BB37F945-77E3-724C-980D-7097EB2DE37E}" type="pres">
      <dgm:prSet presAssocID="{6AF1E9B6-6A81-4C6E-BEEE-52408CE0145E}" presName="horz1" presStyleCnt="0"/>
      <dgm:spPr/>
    </dgm:pt>
    <dgm:pt modelId="{41908786-DE8E-9E42-8440-CE6FFEB29AA0}" type="pres">
      <dgm:prSet presAssocID="{6AF1E9B6-6A81-4C6E-BEEE-52408CE0145E}" presName="tx1" presStyleLbl="revTx" presStyleIdx="2" presStyleCnt="6"/>
      <dgm:spPr/>
    </dgm:pt>
    <dgm:pt modelId="{8C13A5BC-43EE-9D4D-8DC0-8A121F24CB2D}" type="pres">
      <dgm:prSet presAssocID="{6AF1E9B6-6A81-4C6E-BEEE-52408CE0145E}" presName="vert1" presStyleCnt="0"/>
      <dgm:spPr/>
    </dgm:pt>
    <dgm:pt modelId="{4C3320D7-121D-AF4B-AA6D-A3A8CDDC386E}" type="pres">
      <dgm:prSet presAssocID="{1D63F4E2-A111-4A31-8ADC-25D6DA955017}" presName="thickLine" presStyleLbl="alignNode1" presStyleIdx="3" presStyleCnt="6"/>
      <dgm:spPr/>
    </dgm:pt>
    <dgm:pt modelId="{2CE60608-3093-CE49-8A85-23B465F3EDD9}" type="pres">
      <dgm:prSet presAssocID="{1D63F4E2-A111-4A31-8ADC-25D6DA955017}" presName="horz1" presStyleCnt="0"/>
      <dgm:spPr/>
    </dgm:pt>
    <dgm:pt modelId="{39CFE1ED-3832-9045-80E8-67258FAD0571}" type="pres">
      <dgm:prSet presAssocID="{1D63F4E2-A111-4A31-8ADC-25D6DA955017}" presName="tx1" presStyleLbl="revTx" presStyleIdx="3" presStyleCnt="6"/>
      <dgm:spPr/>
    </dgm:pt>
    <dgm:pt modelId="{475D8812-9D93-DC4B-AAF8-61AB6195C9F1}" type="pres">
      <dgm:prSet presAssocID="{1D63F4E2-A111-4A31-8ADC-25D6DA955017}" presName="vert1" presStyleCnt="0"/>
      <dgm:spPr/>
    </dgm:pt>
    <dgm:pt modelId="{F7F3507A-C30D-1246-811F-BDDC5C29F5DF}" type="pres">
      <dgm:prSet presAssocID="{DCB830AA-5BFF-4EAB-AB16-7A5FF9AC7F3A}" presName="thickLine" presStyleLbl="alignNode1" presStyleIdx="4" presStyleCnt="6"/>
      <dgm:spPr/>
    </dgm:pt>
    <dgm:pt modelId="{298DCB93-2E12-1A46-BB39-2133F75D0E79}" type="pres">
      <dgm:prSet presAssocID="{DCB830AA-5BFF-4EAB-AB16-7A5FF9AC7F3A}" presName="horz1" presStyleCnt="0"/>
      <dgm:spPr/>
    </dgm:pt>
    <dgm:pt modelId="{FF652A4F-AC3B-344E-B867-11AF496C943B}" type="pres">
      <dgm:prSet presAssocID="{DCB830AA-5BFF-4EAB-AB16-7A5FF9AC7F3A}" presName="tx1" presStyleLbl="revTx" presStyleIdx="4" presStyleCnt="6"/>
      <dgm:spPr/>
    </dgm:pt>
    <dgm:pt modelId="{E683FB1B-0702-9B49-B735-C4F98D707A3E}" type="pres">
      <dgm:prSet presAssocID="{DCB830AA-5BFF-4EAB-AB16-7A5FF9AC7F3A}" presName="vert1" presStyleCnt="0"/>
      <dgm:spPr/>
    </dgm:pt>
    <dgm:pt modelId="{5EAEB79F-35BE-AD4C-B19E-E1DD86FA8E2A}" type="pres">
      <dgm:prSet presAssocID="{16D489C7-B214-4352-ABE3-5AABAB29D39F}" presName="thickLine" presStyleLbl="alignNode1" presStyleIdx="5" presStyleCnt="6"/>
      <dgm:spPr/>
    </dgm:pt>
    <dgm:pt modelId="{819AF018-4722-274D-B68F-E58D0E44507D}" type="pres">
      <dgm:prSet presAssocID="{16D489C7-B214-4352-ABE3-5AABAB29D39F}" presName="horz1" presStyleCnt="0"/>
      <dgm:spPr/>
    </dgm:pt>
    <dgm:pt modelId="{DFBFD305-B812-CA43-A083-7E5B0C8F50E0}" type="pres">
      <dgm:prSet presAssocID="{16D489C7-B214-4352-ABE3-5AABAB29D39F}" presName="tx1" presStyleLbl="revTx" presStyleIdx="5" presStyleCnt="6"/>
      <dgm:spPr/>
    </dgm:pt>
    <dgm:pt modelId="{8E7366F8-2F20-3F4A-85DA-361BB0D3715F}" type="pres">
      <dgm:prSet presAssocID="{16D489C7-B214-4352-ABE3-5AABAB29D39F}" presName="vert1" presStyleCnt="0"/>
      <dgm:spPr/>
    </dgm:pt>
  </dgm:ptLst>
  <dgm:cxnLst>
    <dgm:cxn modelId="{65E03D0A-A485-AA4E-8E3E-F22611173084}" type="presOf" srcId="{E43FBEE9-7903-4099-BFCE-29BBF2D249AC}" destId="{03D2550A-B6DD-FE45-9151-8276A50CE01B}" srcOrd="0" destOrd="0" presId="urn:microsoft.com/office/officeart/2008/layout/LinedList"/>
    <dgm:cxn modelId="{399E3322-4224-744B-BF58-5A975B3408F7}" type="presOf" srcId="{16D489C7-B214-4352-ABE3-5AABAB29D39F}" destId="{DFBFD305-B812-CA43-A083-7E5B0C8F50E0}" srcOrd="0" destOrd="0" presId="urn:microsoft.com/office/officeart/2008/layout/LinedList"/>
    <dgm:cxn modelId="{740DA751-24AF-E646-A5B5-EF1B75D42DAE}" type="presOf" srcId="{FC8AFB6C-7C81-4848-BE9C-506A62CF2ACF}" destId="{3C9AAC12-A2D7-7548-874B-0F69F8B7310F}" srcOrd="0" destOrd="0" presId="urn:microsoft.com/office/officeart/2008/layout/LinedList"/>
    <dgm:cxn modelId="{E23CF259-AE9E-F745-B9CF-23243F0E56D4}" type="presOf" srcId="{6AF1E9B6-6A81-4C6E-BEEE-52408CE0145E}" destId="{41908786-DE8E-9E42-8440-CE6FFEB29AA0}" srcOrd="0" destOrd="0" presId="urn:microsoft.com/office/officeart/2008/layout/LinedList"/>
    <dgm:cxn modelId="{F683CE63-E194-440B-A95E-2D5D06DF3ABE}" srcId="{E43FBEE9-7903-4099-BFCE-29BBF2D249AC}" destId="{DCB830AA-5BFF-4EAB-AB16-7A5FF9AC7F3A}" srcOrd="4" destOrd="0" parTransId="{B73EBA35-FE35-42C4-9F23-8E916B909C49}" sibTransId="{EC3DCDFC-0D4D-4CDC-B7E1-29248F871020}"/>
    <dgm:cxn modelId="{B9A75C80-D61A-46C7-85F1-C62B922C2600}" srcId="{E43FBEE9-7903-4099-BFCE-29BBF2D249AC}" destId="{6AF1E9B6-6A81-4C6E-BEEE-52408CE0145E}" srcOrd="2" destOrd="0" parTransId="{A077B27F-27F7-4B5D-98B7-82D4060A16B8}" sibTransId="{626A8B51-EF98-48C7-AE4B-3624D59DADCE}"/>
    <dgm:cxn modelId="{CDC2D3A6-576B-4B5C-BE79-8D9F9147439F}" srcId="{E43FBEE9-7903-4099-BFCE-29BBF2D249AC}" destId="{FC8AFB6C-7C81-4848-BE9C-506A62CF2ACF}" srcOrd="0" destOrd="0" parTransId="{983D6799-DD90-4291-BDAF-9E3943D7CFC7}" sibTransId="{909385A6-2A5D-49FB-AE18-FE10B856336E}"/>
    <dgm:cxn modelId="{9F392FAA-0B80-42C3-94F6-A793AA614111}" srcId="{E43FBEE9-7903-4099-BFCE-29BBF2D249AC}" destId="{1D63F4E2-A111-4A31-8ADC-25D6DA955017}" srcOrd="3" destOrd="0" parTransId="{C7E5C6CA-4D63-410C-AA3B-EE79D1F6C0E0}" sibTransId="{29FE640D-8D58-4066-B6FE-F58E9DE327E2}"/>
    <dgm:cxn modelId="{D37987BA-0ED6-410E-93F2-DCC7A21E3CD3}" srcId="{E43FBEE9-7903-4099-BFCE-29BBF2D249AC}" destId="{16D489C7-B214-4352-ABE3-5AABAB29D39F}" srcOrd="5" destOrd="0" parTransId="{7CDFAC76-6053-4DD0-A80C-8BBD2FDEC60C}" sibTransId="{8E533FB2-2A42-4643-A5EE-2231E1BE9BB1}"/>
    <dgm:cxn modelId="{E57046CF-CCB2-0746-80DF-51F413A40E89}" type="presOf" srcId="{39EC571C-F01A-48A3-B117-346859AB7E99}" destId="{638CF4A0-8AB6-7D48-B57B-9190DF015F6B}" srcOrd="0" destOrd="0" presId="urn:microsoft.com/office/officeart/2008/layout/LinedList"/>
    <dgm:cxn modelId="{98F55AD9-C9D3-5443-868F-402F0EC149BB}" type="presOf" srcId="{DCB830AA-5BFF-4EAB-AB16-7A5FF9AC7F3A}" destId="{FF652A4F-AC3B-344E-B867-11AF496C943B}" srcOrd="0" destOrd="0" presId="urn:microsoft.com/office/officeart/2008/layout/LinedList"/>
    <dgm:cxn modelId="{324208E1-8EF5-9546-823D-85193264F2E7}" type="presOf" srcId="{1D63F4E2-A111-4A31-8ADC-25D6DA955017}" destId="{39CFE1ED-3832-9045-80E8-67258FAD0571}" srcOrd="0" destOrd="0" presId="urn:microsoft.com/office/officeart/2008/layout/LinedList"/>
    <dgm:cxn modelId="{915E71EA-A3B4-4CA6-A70D-BDA25C8AB01E}" srcId="{E43FBEE9-7903-4099-BFCE-29BBF2D249AC}" destId="{39EC571C-F01A-48A3-B117-346859AB7E99}" srcOrd="1" destOrd="0" parTransId="{9D9EA0CC-A242-4DD6-A8BF-37446EBF2286}" sibTransId="{DEAB09C1-6F58-46A8-B79C-DDA7C4A81F9F}"/>
    <dgm:cxn modelId="{2D541E7A-987E-A24C-A98E-513027D29668}" type="presParOf" srcId="{03D2550A-B6DD-FE45-9151-8276A50CE01B}" destId="{75041BC9-F93B-D845-B638-093CDC5F149E}" srcOrd="0" destOrd="0" presId="urn:microsoft.com/office/officeart/2008/layout/LinedList"/>
    <dgm:cxn modelId="{C48F1963-0A0E-CD4A-BFC1-45D7175A8670}" type="presParOf" srcId="{03D2550A-B6DD-FE45-9151-8276A50CE01B}" destId="{7C91752F-82A0-3F47-BA7C-85827F69837D}" srcOrd="1" destOrd="0" presId="urn:microsoft.com/office/officeart/2008/layout/LinedList"/>
    <dgm:cxn modelId="{05B25C67-2733-9440-BBE9-788D51EABB22}" type="presParOf" srcId="{7C91752F-82A0-3F47-BA7C-85827F69837D}" destId="{3C9AAC12-A2D7-7548-874B-0F69F8B7310F}" srcOrd="0" destOrd="0" presId="urn:microsoft.com/office/officeart/2008/layout/LinedList"/>
    <dgm:cxn modelId="{D4DD78FF-28EE-F14A-980F-D94623BC6D7D}" type="presParOf" srcId="{7C91752F-82A0-3F47-BA7C-85827F69837D}" destId="{1546254F-B2E5-034D-9CA6-7BFEEF491303}" srcOrd="1" destOrd="0" presId="urn:microsoft.com/office/officeart/2008/layout/LinedList"/>
    <dgm:cxn modelId="{01C292B3-9037-F447-B26B-5CB7176DC7C2}" type="presParOf" srcId="{03D2550A-B6DD-FE45-9151-8276A50CE01B}" destId="{2DCFBE73-D24C-6849-8283-7A859D5A7301}" srcOrd="2" destOrd="0" presId="urn:microsoft.com/office/officeart/2008/layout/LinedList"/>
    <dgm:cxn modelId="{CE692EC7-8054-B84D-B968-F46D2A0C6EDF}" type="presParOf" srcId="{03D2550A-B6DD-FE45-9151-8276A50CE01B}" destId="{BBB9401E-F217-3B49-A07D-85AAB248A841}" srcOrd="3" destOrd="0" presId="urn:microsoft.com/office/officeart/2008/layout/LinedList"/>
    <dgm:cxn modelId="{ECFBCA1E-2044-EC4A-9E9E-4346E710757D}" type="presParOf" srcId="{BBB9401E-F217-3B49-A07D-85AAB248A841}" destId="{638CF4A0-8AB6-7D48-B57B-9190DF015F6B}" srcOrd="0" destOrd="0" presId="urn:microsoft.com/office/officeart/2008/layout/LinedList"/>
    <dgm:cxn modelId="{BF09024C-50AE-8041-988D-FBB1FEA5C4EB}" type="presParOf" srcId="{BBB9401E-F217-3B49-A07D-85AAB248A841}" destId="{1229E6A6-1A91-AF48-B3D9-5167E2CF134A}" srcOrd="1" destOrd="0" presId="urn:microsoft.com/office/officeart/2008/layout/LinedList"/>
    <dgm:cxn modelId="{11DFB832-AB66-934F-856D-B0870FEADB42}" type="presParOf" srcId="{03D2550A-B6DD-FE45-9151-8276A50CE01B}" destId="{E05E1C25-1ED3-F240-BEFF-6F79DD2DF162}" srcOrd="4" destOrd="0" presId="urn:microsoft.com/office/officeart/2008/layout/LinedList"/>
    <dgm:cxn modelId="{8D13DA14-26E9-3142-AB93-70951CEB6E4F}" type="presParOf" srcId="{03D2550A-B6DD-FE45-9151-8276A50CE01B}" destId="{BB37F945-77E3-724C-980D-7097EB2DE37E}" srcOrd="5" destOrd="0" presId="urn:microsoft.com/office/officeart/2008/layout/LinedList"/>
    <dgm:cxn modelId="{C4D0853F-2E08-3D43-A0D5-C482CEF80490}" type="presParOf" srcId="{BB37F945-77E3-724C-980D-7097EB2DE37E}" destId="{41908786-DE8E-9E42-8440-CE6FFEB29AA0}" srcOrd="0" destOrd="0" presId="urn:microsoft.com/office/officeart/2008/layout/LinedList"/>
    <dgm:cxn modelId="{2329D8FE-64FE-9146-BEBD-1B341031C125}" type="presParOf" srcId="{BB37F945-77E3-724C-980D-7097EB2DE37E}" destId="{8C13A5BC-43EE-9D4D-8DC0-8A121F24CB2D}" srcOrd="1" destOrd="0" presId="urn:microsoft.com/office/officeart/2008/layout/LinedList"/>
    <dgm:cxn modelId="{A1E890B9-D12E-CA47-A313-D0C2CB1C3993}" type="presParOf" srcId="{03D2550A-B6DD-FE45-9151-8276A50CE01B}" destId="{4C3320D7-121D-AF4B-AA6D-A3A8CDDC386E}" srcOrd="6" destOrd="0" presId="urn:microsoft.com/office/officeart/2008/layout/LinedList"/>
    <dgm:cxn modelId="{4CD38300-DC68-414E-81B3-6A88BB7AF532}" type="presParOf" srcId="{03D2550A-B6DD-FE45-9151-8276A50CE01B}" destId="{2CE60608-3093-CE49-8A85-23B465F3EDD9}" srcOrd="7" destOrd="0" presId="urn:microsoft.com/office/officeart/2008/layout/LinedList"/>
    <dgm:cxn modelId="{642254BC-DB9C-274D-9F02-E715250D6EE9}" type="presParOf" srcId="{2CE60608-3093-CE49-8A85-23B465F3EDD9}" destId="{39CFE1ED-3832-9045-80E8-67258FAD0571}" srcOrd="0" destOrd="0" presId="urn:microsoft.com/office/officeart/2008/layout/LinedList"/>
    <dgm:cxn modelId="{52D8F943-5763-0A4E-A415-C652393B303A}" type="presParOf" srcId="{2CE60608-3093-CE49-8A85-23B465F3EDD9}" destId="{475D8812-9D93-DC4B-AAF8-61AB6195C9F1}" srcOrd="1" destOrd="0" presId="urn:microsoft.com/office/officeart/2008/layout/LinedList"/>
    <dgm:cxn modelId="{934B1BC2-C60B-4745-AFF7-9B8BE8C03B14}" type="presParOf" srcId="{03D2550A-B6DD-FE45-9151-8276A50CE01B}" destId="{F7F3507A-C30D-1246-811F-BDDC5C29F5DF}" srcOrd="8" destOrd="0" presId="urn:microsoft.com/office/officeart/2008/layout/LinedList"/>
    <dgm:cxn modelId="{9B5A7D48-387D-0C48-915E-3A95313BD836}" type="presParOf" srcId="{03D2550A-B6DD-FE45-9151-8276A50CE01B}" destId="{298DCB93-2E12-1A46-BB39-2133F75D0E79}" srcOrd="9" destOrd="0" presId="urn:microsoft.com/office/officeart/2008/layout/LinedList"/>
    <dgm:cxn modelId="{55B4387D-2CEB-BA49-B0F9-FFFEF3DC443C}" type="presParOf" srcId="{298DCB93-2E12-1A46-BB39-2133F75D0E79}" destId="{FF652A4F-AC3B-344E-B867-11AF496C943B}" srcOrd="0" destOrd="0" presId="urn:microsoft.com/office/officeart/2008/layout/LinedList"/>
    <dgm:cxn modelId="{45CBD971-3D1C-F447-82B9-10A95676C980}" type="presParOf" srcId="{298DCB93-2E12-1A46-BB39-2133F75D0E79}" destId="{E683FB1B-0702-9B49-B735-C4F98D707A3E}" srcOrd="1" destOrd="0" presId="urn:microsoft.com/office/officeart/2008/layout/LinedList"/>
    <dgm:cxn modelId="{BD823B19-AB9D-0143-B172-4E88E57D7BBD}" type="presParOf" srcId="{03D2550A-B6DD-FE45-9151-8276A50CE01B}" destId="{5EAEB79F-35BE-AD4C-B19E-E1DD86FA8E2A}" srcOrd="10" destOrd="0" presId="urn:microsoft.com/office/officeart/2008/layout/LinedList"/>
    <dgm:cxn modelId="{BF154222-DE38-0946-A050-68B3568A8943}" type="presParOf" srcId="{03D2550A-B6DD-FE45-9151-8276A50CE01B}" destId="{819AF018-4722-274D-B68F-E58D0E44507D}" srcOrd="11" destOrd="0" presId="urn:microsoft.com/office/officeart/2008/layout/LinedList"/>
    <dgm:cxn modelId="{30E6B9CE-F53C-A342-8A5E-C58D661739E4}" type="presParOf" srcId="{819AF018-4722-274D-B68F-E58D0E44507D}" destId="{DFBFD305-B812-CA43-A083-7E5B0C8F50E0}" srcOrd="0" destOrd="0" presId="urn:microsoft.com/office/officeart/2008/layout/LinedList"/>
    <dgm:cxn modelId="{BBE59362-3C01-4947-9B7C-48EC247E3DCA}" type="presParOf" srcId="{819AF018-4722-274D-B68F-E58D0E44507D}" destId="{8E7366F8-2F20-3F4A-85DA-361BB0D3715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C65C53-FE72-4489-A78E-9CCF85F0F8EE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564F498-13A9-4B57-8474-3726CFA8DB3D}">
      <dgm:prSet/>
      <dgm:spPr/>
      <dgm:t>
        <a:bodyPr/>
        <a:lstStyle/>
        <a:p>
          <a:r>
            <a:rPr lang="en-US" dirty="0"/>
            <a:t>Data set: </a:t>
          </a:r>
          <a:r>
            <a:rPr lang="en-US" b="1" i="0" dirty="0"/>
            <a:t>Diabetes 130 US hospitals for years 1999-2008</a:t>
          </a:r>
        </a:p>
      </dgm:t>
    </dgm:pt>
    <dgm:pt modelId="{52D69920-62AF-499C-B60D-2B98FE625C2B}" type="parTrans" cxnId="{DEFBBB47-5AC5-497B-B501-BFAA61D815B6}">
      <dgm:prSet/>
      <dgm:spPr/>
      <dgm:t>
        <a:bodyPr/>
        <a:lstStyle/>
        <a:p>
          <a:endParaRPr lang="en-US"/>
        </a:p>
      </dgm:t>
    </dgm:pt>
    <dgm:pt modelId="{DB639B97-EBA9-40F9-A6EF-308E9B700BD2}" type="sibTrans" cxnId="{DEFBBB47-5AC5-497B-B501-BFAA61D815B6}">
      <dgm:prSet/>
      <dgm:spPr/>
      <dgm:t>
        <a:bodyPr/>
        <a:lstStyle/>
        <a:p>
          <a:endParaRPr lang="en-US"/>
        </a:p>
      </dgm:t>
    </dgm:pt>
    <dgm:pt modelId="{B0F91C3B-297F-45D3-A115-857DA20739F5}">
      <dgm:prSet/>
      <dgm:spPr/>
      <dgm:t>
        <a:bodyPr/>
        <a:lstStyle/>
        <a:p>
          <a:r>
            <a:rPr lang="en-US"/>
            <a:t>Patient Demographics</a:t>
          </a:r>
        </a:p>
      </dgm:t>
    </dgm:pt>
    <dgm:pt modelId="{81FE1568-83FB-4F11-BE30-0780C4A2595F}" type="parTrans" cxnId="{FD44C961-0981-475C-8552-1F87A4387ECF}">
      <dgm:prSet/>
      <dgm:spPr/>
      <dgm:t>
        <a:bodyPr/>
        <a:lstStyle/>
        <a:p>
          <a:endParaRPr lang="en-US"/>
        </a:p>
      </dgm:t>
    </dgm:pt>
    <dgm:pt modelId="{5ED5A23E-E5D6-447F-A12A-59DA8AD883D9}" type="sibTrans" cxnId="{FD44C961-0981-475C-8552-1F87A4387ECF}">
      <dgm:prSet/>
      <dgm:spPr/>
      <dgm:t>
        <a:bodyPr/>
        <a:lstStyle/>
        <a:p>
          <a:endParaRPr lang="en-US"/>
        </a:p>
      </dgm:t>
    </dgm:pt>
    <dgm:pt modelId="{057A78B2-CFAC-4166-B30B-6793530C8DF6}">
      <dgm:prSet/>
      <dgm:spPr/>
      <dgm:t>
        <a:bodyPr/>
        <a:lstStyle/>
        <a:p>
          <a:r>
            <a:rPr lang="en-US"/>
            <a:t>Diagnoses</a:t>
          </a:r>
        </a:p>
      </dgm:t>
    </dgm:pt>
    <dgm:pt modelId="{BBCCE836-F9EE-4A99-B8DC-621B493C551D}" type="parTrans" cxnId="{762B0261-B50B-40A7-85F1-D80C1EA67595}">
      <dgm:prSet/>
      <dgm:spPr/>
      <dgm:t>
        <a:bodyPr/>
        <a:lstStyle/>
        <a:p>
          <a:endParaRPr lang="en-US"/>
        </a:p>
      </dgm:t>
    </dgm:pt>
    <dgm:pt modelId="{9ABC08C3-28C0-44F9-87C4-31AA740DAC06}" type="sibTrans" cxnId="{762B0261-B50B-40A7-85F1-D80C1EA67595}">
      <dgm:prSet/>
      <dgm:spPr/>
      <dgm:t>
        <a:bodyPr/>
        <a:lstStyle/>
        <a:p>
          <a:endParaRPr lang="en-US"/>
        </a:p>
      </dgm:t>
    </dgm:pt>
    <dgm:pt modelId="{ACA170ED-1A6C-4A4A-9EE7-8097C6B78CFD}">
      <dgm:prSet/>
      <dgm:spPr/>
      <dgm:t>
        <a:bodyPr/>
        <a:lstStyle/>
        <a:p>
          <a:r>
            <a:rPr lang="en-US"/>
            <a:t>Medication</a:t>
          </a:r>
        </a:p>
      </dgm:t>
    </dgm:pt>
    <dgm:pt modelId="{65247C14-C869-4D70-9808-620488E6770E}" type="parTrans" cxnId="{148EA883-9B27-4C5C-A4B2-05349D3B9035}">
      <dgm:prSet/>
      <dgm:spPr/>
      <dgm:t>
        <a:bodyPr/>
        <a:lstStyle/>
        <a:p>
          <a:endParaRPr lang="en-US"/>
        </a:p>
      </dgm:t>
    </dgm:pt>
    <dgm:pt modelId="{59846FAE-D8CA-477C-B565-5E5194F9BFE0}" type="sibTrans" cxnId="{148EA883-9B27-4C5C-A4B2-05349D3B9035}">
      <dgm:prSet/>
      <dgm:spPr/>
      <dgm:t>
        <a:bodyPr/>
        <a:lstStyle/>
        <a:p>
          <a:endParaRPr lang="en-US"/>
        </a:p>
      </dgm:t>
    </dgm:pt>
    <dgm:pt modelId="{98F6F687-A076-4577-8358-E3708CA15D54}">
      <dgm:prSet/>
      <dgm:spPr/>
      <dgm:t>
        <a:bodyPr/>
        <a:lstStyle/>
        <a:p>
          <a:r>
            <a:rPr lang="en-US"/>
            <a:t>Encounter History</a:t>
          </a:r>
        </a:p>
      </dgm:t>
    </dgm:pt>
    <dgm:pt modelId="{F8DDBBFB-F1EB-46E2-B3BE-168A46857C0D}" type="parTrans" cxnId="{F551493D-BC34-4BDC-BD31-AC864EB88285}">
      <dgm:prSet/>
      <dgm:spPr/>
      <dgm:t>
        <a:bodyPr/>
        <a:lstStyle/>
        <a:p>
          <a:endParaRPr lang="en-US"/>
        </a:p>
      </dgm:t>
    </dgm:pt>
    <dgm:pt modelId="{7D5347F5-D473-4A72-8F12-568A5C749214}" type="sibTrans" cxnId="{F551493D-BC34-4BDC-BD31-AC864EB88285}">
      <dgm:prSet/>
      <dgm:spPr/>
      <dgm:t>
        <a:bodyPr/>
        <a:lstStyle/>
        <a:p>
          <a:endParaRPr lang="en-US"/>
        </a:p>
      </dgm:t>
    </dgm:pt>
    <dgm:pt modelId="{4C9F94EC-C9A1-426E-AA09-B49370B94A70}">
      <dgm:prSet/>
      <dgm:spPr/>
      <dgm:t>
        <a:bodyPr/>
        <a:lstStyle/>
        <a:p>
          <a:r>
            <a:rPr lang="en-US"/>
            <a:t>Goal</a:t>
          </a:r>
        </a:p>
      </dgm:t>
    </dgm:pt>
    <dgm:pt modelId="{619A0F23-168B-49E7-BAA9-3C6390744DE2}" type="parTrans" cxnId="{2F670B52-C68B-4E9B-AB25-94F3761965DA}">
      <dgm:prSet/>
      <dgm:spPr/>
      <dgm:t>
        <a:bodyPr/>
        <a:lstStyle/>
        <a:p>
          <a:endParaRPr lang="en-US"/>
        </a:p>
      </dgm:t>
    </dgm:pt>
    <dgm:pt modelId="{1AEC888D-53E4-400D-93A2-BCC94542C29E}" type="sibTrans" cxnId="{2F670B52-C68B-4E9B-AB25-94F3761965DA}">
      <dgm:prSet/>
      <dgm:spPr/>
      <dgm:t>
        <a:bodyPr/>
        <a:lstStyle/>
        <a:p>
          <a:endParaRPr lang="en-US"/>
        </a:p>
      </dgm:t>
    </dgm:pt>
    <dgm:pt modelId="{10F59A7C-5C5C-4629-A0C0-CFBCA3B25C43}">
      <dgm:prSet/>
      <dgm:spPr/>
      <dgm:t>
        <a:bodyPr/>
        <a:lstStyle/>
        <a:p>
          <a:r>
            <a:rPr lang="en-US" dirty="0"/>
            <a:t>Identify patients at high risk for readmission in less than 30 days before they are discharged.</a:t>
          </a:r>
        </a:p>
      </dgm:t>
    </dgm:pt>
    <dgm:pt modelId="{BDE5D4F1-9A9D-4398-B546-F2EEBBCC318B}" type="parTrans" cxnId="{D64E25D7-1564-45C6-B45B-3046D730BF78}">
      <dgm:prSet/>
      <dgm:spPr/>
      <dgm:t>
        <a:bodyPr/>
        <a:lstStyle/>
        <a:p>
          <a:endParaRPr lang="en-US"/>
        </a:p>
      </dgm:t>
    </dgm:pt>
    <dgm:pt modelId="{55BBACB2-60A6-477E-8054-E8D90852D98A}" type="sibTrans" cxnId="{D64E25D7-1564-45C6-B45B-3046D730BF78}">
      <dgm:prSet/>
      <dgm:spPr/>
      <dgm:t>
        <a:bodyPr/>
        <a:lstStyle/>
        <a:p>
          <a:endParaRPr lang="en-US"/>
        </a:p>
      </dgm:t>
    </dgm:pt>
    <dgm:pt modelId="{85F65FDE-C293-1949-ADE2-0E77AFD87E0F}" type="pres">
      <dgm:prSet presAssocID="{DBC65C53-FE72-4489-A78E-9CCF85F0F8EE}" presName="Name0" presStyleCnt="0">
        <dgm:presLayoutVars>
          <dgm:dir/>
          <dgm:animLvl val="lvl"/>
          <dgm:resizeHandles val="exact"/>
        </dgm:presLayoutVars>
      </dgm:prSet>
      <dgm:spPr/>
    </dgm:pt>
    <dgm:pt modelId="{228BCD15-62A3-4243-AEB8-87BE55D9EB95}" type="pres">
      <dgm:prSet presAssocID="{C564F498-13A9-4B57-8474-3726CFA8DB3D}" presName="composite" presStyleCnt="0"/>
      <dgm:spPr/>
    </dgm:pt>
    <dgm:pt modelId="{E5BAB03E-7811-994A-86D2-697A0F30C0C6}" type="pres">
      <dgm:prSet presAssocID="{C564F498-13A9-4B57-8474-3726CFA8DB3D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8339530B-D2EC-9C4C-8741-15A5944D0D26}" type="pres">
      <dgm:prSet presAssocID="{C564F498-13A9-4B57-8474-3726CFA8DB3D}" presName="desTx" presStyleLbl="alignAccFollowNode1" presStyleIdx="0" presStyleCnt="2">
        <dgm:presLayoutVars>
          <dgm:bulletEnabled val="1"/>
        </dgm:presLayoutVars>
      </dgm:prSet>
      <dgm:spPr/>
    </dgm:pt>
    <dgm:pt modelId="{C381DAB0-C4C0-684C-9E65-151F434030CB}" type="pres">
      <dgm:prSet presAssocID="{DB639B97-EBA9-40F9-A6EF-308E9B700BD2}" presName="space" presStyleCnt="0"/>
      <dgm:spPr/>
    </dgm:pt>
    <dgm:pt modelId="{F4D02A76-B9FD-4642-8443-309C86D6C1F1}" type="pres">
      <dgm:prSet presAssocID="{4C9F94EC-C9A1-426E-AA09-B49370B94A70}" presName="composite" presStyleCnt="0"/>
      <dgm:spPr/>
    </dgm:pt>
    <dgm:pt modelId="{A07677A2-17D1-1F46-B51E-BEEA94FD0976}" type="pres">
      <dgm:prSet presAssocID="{4C9F94EC-C9A1-426E-AA09-B49370B94A7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30728889-1AF6-C44B-A003-1E4271031563}" type="pres">
      <dgm:prSet presAssocID="{4C9F94EC-C9A1-426E-AA09-B49370B94A70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7019406-AE8F-3044-A31D-884111F8901B}" type="presOf" srcId="{ACA170ED-1A6C-4A4A-9EE7-8097C6B78CFD}" destId="{8339530B-D2EC-9C4C-8741-15A5944D0D26}" srcOrd="0" destOrd="2" presId="urn:microsoft.com/office/officeart/2005/8/layout/hList1"/>
    <dgm:cxn modelId="{D48BA728-4ADE-3949-86F0-3537F6C3327D}" type="presOf" srcId="{DBC65C53-FE72-4489-A78E-9CCF85F0F8EE}" destId="{85F65FDE-C293-1949-ADE2-0E77AFD87E0F}" srcOrd="0" destOrd="0" presId="urn:microsoft.com/office/officeart/2005/8/layout/hList1"/>
    <dgm:cxn modelId="{16F8792F-8A12-9842-8FC5-305CC1B76AF7}" type="presOf" srcId="{4C9F94EC-C9A1-426E-AA09-B49370B94A70}" destId="{A07677A2-17D1-1F46-B51E-BEEA94FD0976}" srcOrd="0" destOrd="0" presId="urn:microsoft.com/office/officeart/2005/8/layout/hList1"/>
    <dgm:cxn modelId="{F551493D-BC34-4BDC-BD31-AC864EB88285}" srcId="{C564F498-13A9-4B57-8474-3726CFA8DB3D}" destId="{98F6F687-A076-4577-8358-E3708CA15D54}" srcOrd="3" destOrd="0" parTransId="{F8DDBBFB-F1EB-46E2-B3BE-168A46857C0D}" sibTransId="{7D5347F5-D473-4A72-8F12-568A5C749214}"/>
    <dgm:cxn modelId="{DEFBBB47-5AC5-497B-B501-BFAA61D815B6}" srcId="{DBC65C53-FE72-4489-A78E-9CCF85F0F8EE}" destId="{C564F498-13A9-4B57-8474-3726CFA8DB3D}" srcOrd="0" destOrd="0" parTransId="{52D69920-62AF-499C-B60D-2B98FE625C2B}" sibTransId="{DB639B97-EBA9-40F9-A6EF-308E9B700BD2}"/>
    <dgm:cxn modelId="{2F670B52-C68B-4E9B-AB25-94F3761965DA}" srcId="{DBC65C53-FE72-4489-A78E-9CCF85F0F8EE}" destId="{4C9F94EC-C9A1-426E-AA09-B49370B94A70}" srcOrd="1" destOrd="0" parTransId="{619A0F23-168B-49E7-BAA9-3C6390744DE2}" sibTransId="{1AEC888D-53E4-400D-93A2-BCC94542C29E}"/>
    <dgm:cxn modelId="{E34F1B5E-E4FA-8A4C-877A-EC414392103E}" type="presOf" srcId="{10F59A7C-5C5C-4629-A0C0-CFBCA3B25C43}" destId="{30728889-1AF6-C44B-A003-1E4271031563}" srcOrd="0" destOrd="0" presId="urn:microsoft.com/office/officeart/2005/8/layout/hList1"/>
    <dgm:cxn modelId="{762B0261-B50B-40A7-85F1-D80C1EA67595}" srcId="{C564F498-13A9-4B57-8474-3726CFA8DB3D}" destId="{057A78B2-CFAC-4166-B30B-6793530C8DF6}" srcOrd="1" destOrd="0" parTransId="{BBCCE836-F9EE-4A99-B8DC-621B493C551D}" sibTransId="{9ABC08C3-28C0-44F9-87C4-31AA740DAC06}"/>
    <dgm:cxn modelId="{FD44C961-0981-475C-8552-1F87A4387ECF}" srcId="{C564F498-13A9-4B57-8474-3726CFA8DB3D}" destId="{B0F91C3B-297F-45D3-A115-857DA20739F5}" srcOrd="0" destOrd="0" parTransId="{81FE1568-83FB-4F11-BE30-0780C4A2595F}" sibTransId="{5ED5A23E-E5D6-447F-A12A-59DA8AD883D9}"/>
    <dgm:cxn modelId="{148EA883-9B27-4C5C-A4B2-05349D3B9035}" srcId="{C564F498-13A9-4B57-8474-3726CFA8DB3D}" destId="{ACA170ED-1A6C-4A4A-9EE7-8097C6B78CFD}" srcOrd="2" destOrd="0" parTransId="{65247C14-C869-4D70-9808-620488E6770E}" sibTransId="{59846FAE-D8CA-477C-B565-5E5194F9BFE0}"/>
    <dgm:cxn modelId="{9D315596-F42B-4949-8492-2FD6309C2EE7}" type="presOf" srcId="{C564F498-13A9-4B57-8474-3726CFA8DB3D}" destId="{E5BAB03E-7811-994A-86D2-697A0F30C0C6}" srcOrd="0" destOrd="0" presId="urn:microsoft.com/office/officeart/2005/8/layout/hList1"/>
    <dgm:cxn modelId="{90DCC499-5C5A-C84F-8AD5-5E7244EFA7D2}" type="presOf" srcId="{B0F91C3B-297F-45D3-A115-857DA20739F5}" destId="{8339530B-D2EC-9C4C-8741-15A5944D0D26}" srcOrd="0" destOrd="0" presId="urn:microsoft.com/office/officeart/2005/8/layout/hList1"/>
    <dgm:cxn modelId="{94C0C69B-8EE0-284E-829F-0F1251023A3F}" type="presOf" srcId="{98F6F687-A076-4577-8358-E3708CA15D54}" destId="{8339530B-D2EC-9C4C-8741-15A5944D0D26}" srcOrd="0" destOrd="3" presId="urn:microsoft.com/office/officeart/2005/8/layout/hList1"/>
    <dgm:cxn modelId="{93EFB3CF-94B2-EE4D-8E47-894BB46B7958}" type="presOf" srcId="{057A78B2-CFAC-4166-B30B-6793530C8DF6}" destId="{8339530B-D2EC-9C4C-8741-15A5944D0D26}" srcOrd="0" destOrd="1" presId="urn:microsoft.com/office/officeart/2005/8/layout/hList1"/>
    <dgm:cxn modelId="{D64E25D7-1564-45C6-B45B-3046D730BF78}" srcId="{4C9F94EC-C9A1-426E-AA09-B49370B94A70}" destId="{10F59A7C-5C5C-4629-A0C0-CFBCA3B25C43}" srcOrd="0" destOrd="0" parTransId="{BDE5D4F1-9A9D-4398-B546-F2EEBBCC318B}" sibTransId="{55BBACB2-60A6-477E-8054-E8D90852D98A}"/>
    <dgm:cxn modelId="{B5D96EC7-92D1-4348-B6B6-93DAF70D436B}" type="presParOf" srcId="{85F65FDE-C293-1949-ADE2-0E77AFD87E0F}" destId="{228BCD15-62A3-4243-AEB8-87BE55D9EB95}" srcOrd="0" destOrd="0" presId="urn:microsoft.com/office/officeart/2005/8/layout/hList1"/>
    <dgm:cxn modelId="{746FAAED-3D56-BB40-8567-E3A906A90504}" type="presParOf" srcId="{228BCD15-62A3-4243-AEB8-87BE55D9EB95}" destId="{E5BAB03E-7811-994A-86D2-697A0F30C0C6}" srcOrd="0" destOrd="0" presId="urn:microsoft.com/office/officeart/2005/8/layout/hList1"/>
    <dgm:cxn modelId="{083FB399-732B-B647-8484-AC4030F343DD}" type="presParOf" srcId="{228BCD15-62A3-4243-AEB8-87BE55D9EB95}" destId="{8339530B-D2EC-9C4C-8741-15A5944D0D26}" srcOrd="1" destOrd="0" presId="urn:microsoft.com/office/officeart/2005/8/layout/hList1"/>
    <dgm:cxn modelId="{C9A89179-B135-BA4E-B8C0-BA688589DE52}" type="presParOf" srcId="{85F65FDE-C293-1949-ADE2-0E77AFD87E0F}" destId="{C381DAB0-C4C0-684C-9E65-151F434030CB}" srcOrd="1" destOrd="0" presId="urn:microsoft.com/office/officeart/2005/8/layout/hList1"/>
    <dgm:cxn modelId="{33CE0AF6-751B-244A-BFCC-6D4192283820}" type="presParOf" srcId="{85F65FDE-C293-1949-ADE2-0E77AFD87E0F}" destId="{F4D02A76-B9FD-4642-8443-309C86D6C1F1}" srcOrd="2" destOrd="0" presId="urn:microsoft.com/office/officeart/2005/8/layout/hList1"/>
    <dgm:cxn modelId="{B34AB969-5A23-184E-9E37-1FF1F35184E3}" type="presParOf" srcId="{F4D02A76-B9FD-4642-8443-309C86D6C1F1}" destId="{A07677A2-17D1-1F46-B51E-BEEA94FD0976}" srcOrd="0" destOrd="0" presId="urn:microsoft.com/office/officeart/2005/8/layout/hList1"/>
    <dgm:cxn modelId="{56B64F7A-EBCD-3C45-8597-6255E0C92DB2}" type="presParOf" srcId="{F4D02A76-B9FD-4642-8443-309C86D6C1F1}" destId="{30728889-1AF6-C44B-A003-1E427103156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AE17F14-BB94-46E7-9215-97B33F17F57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3F27E7-EDC7-466B-8659-36E4BAD86C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Certain diagnoses groups had 2-3x higher readmission risk</a:t>
          </a:r>
          <a:endParaRPr lang="en-US"/>
        </a:p>
      </dgm:t>
    </dgm:pt>
    <dgm:pt modelId="{3F5A6413-C9B9-471C-81EE-7E9EA5203066}" type="parTrans" cxnId="{E94C6F58-960F-42F1-B0E7-62BA6CF595AF}">
      <dgm:prSet/>
      <dgm:spPr/>
      <dgm:t>
        <a:bodyPr/>
        <a:lstStyle/>
        <a:p>
          <a:endParaRPr lang="en-US"/>
        </a:p>
      </dgm:t>
    </dgm:pt>
    <dgm:pt modelId="{63380936-5399-4BD2-83D1-BA1A0CD8FB2B}" type="sibTrans" cxnId="{E94C6F58-960F-42F1-B0E7-62BA6CF595A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02E36E9-9E4F-4A56-B037-02E82D31AD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Frequent prior visits strongly predicted return</a:t>
          </a:r>
          <a:endParaRPr lang="en-US"/>
        </a:p>
      </dgm:t>
    </dgm:pt>
    <dgm:pt modelId="{B8179A2A-87B6-46CF-A773-9B78AF56E150}" type="parTrans" cxnId="{EC182B5E-F2AC-4F59-A766-6185EF220D0C}">
      <dgm:prSet/>
      <dgm:spPr/>
      <dgm:t>
        <a:bodyPr/>
        <a:lstStyle/>
        <a:p>
          <a:endParaRPr lang="en-US"/>
        </a:p>
      </dgm:t>
    </dgm:pt>
    <dgm:pt modelId="{5DFD6A95-5045-4788-A76C-61A5F4D476B8}" type="sibTrans" cxnId="{EC182B5E-F2AC-4F59-A766-6185EF220D0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B466439-901B-4D1A-AE8B-34FBB5F773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Average medication and lab counts showed increased risk of readmission in high-risk individuals</a:t>
          </a:r>
          <a:endParaRPr lang="en-US"/>
        </a:p>
      </dgm:t>
    </dgm:pt>
    <dgm:pt modelId="{CFF283EF-3776-40DD-B1A4-156039A3452E}" type="parTrans" cxnId="{FFCBBF91-4DF1-430E-A857-9D6837DA017B}">
      <dgm:prSet/>
      <dgm:spPr/>
      <dgm:t>
        <a:bodyPr/>
        <a:lstStyle/>
        <a:p>
          <a:endParaRPr lang="en-US"/>
        </a:p>
      </dgm:t>
    </dgm:pt>
    <dgm:pt modelId="{F0D559DE-836C-44E0-9D90-94B8B7B6CDF5}" type="sibTrans" cxnId="{FFCBBF91-4DF1-430E-A857-9D6837DA017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8354791-3379-47C1-9D14-CD27C484ED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Repeated ER visits were the major factor that led to readmission </a:t>
          </a:r>
          <a:endParaRPr lang="en-US"/>
        </a:p>
      </dgm:t>
    </dgm:pt>
    <dgm:pt modelId="{CC3C904D-87DC-47FB-A095-6C180189E9AE}" type="parTrans" cxnId="{1899D35B-B49E-4292-AB08-8A7091F1A563}">
      <dgm:prSet/>
      <dgm:spPr/>
      <dgm:t>
        <a:bodyPr/>
        <a:lstStyle/>
        <a:p>
          <a:endParaRPr lang="en-US"/>
        </a:p>
      </dgm:t>
    </dgm:pt>
    <dgm:pt modelId="{5C438CC1-2994-44B5-A321-70DAE22B7DF4}" type="sibTrans" cxnId="{1899D35B-B49E-4292-AB08-8A7091F1A563}">
      <dgm:prSet/>
      <dgm:spPr/>
      <dgm:t>
        <a:bodyPr/>
        <a:lstStyle/>
        <a:p>
          <a:endParaRPr lang="en-US"/>
        </a:p>
      </dgm:t>
    </dgm:pt>
    <dgm:pt modelId="{13CD7A9C-3BA0-41C7-BFC8-559FB27D2FA9}" type="pres">
      <dgm:prSet presAssocID="{1AE17F14-BB94-46E7-9215-97B33F17F571}" presName="root" presStyleCnt="0">
        <dgm:presLayoutVars>
          <dgm:dir/>
          <dgm:resizeHandles val="exact"/>
        </dgm:presLayoutVars>
      </dgm:prSet>
      <dgm:spPr/>
    </dgm:pt>
    <dgm:pt modelId="{DD391196-0B87-4144-9EEC-5B29473DD722}" type="pres">
      <dgm:prSet presAssocID="{1AE17F14-BB94-46E7-9215-97B33F17F571}" presName="container" presStyleCnt="0">
        <dgm:presLayoutVars>
          <dgm:dir/>
          <dgm:resizeHandles val="exact"/>
        </dgm:presLayoutVars>
      </dgm:prSet>
      <dgm:spPr/>
    </dgm:pt>
    <dgm:pt modelId="{32397C4D-9186-4658-88A3-4AA5E52E834E}" type="pres">
      <dgm:prSet presAssocID="{213F27E7-EDC7-466B-8659-36E4BAD86C9F}" presName="compNode" presStyleCnt="0"/>
      <dgm:spPr/>
    </dgm:pt>
    <dgm:pt modelId="{E97326EA-2615-4A8D-BF7B-50229B53EF31}" type="pres">
      <dgm:prSet presAssocID="{213F27E7-EDC7-466B-8659-36E4BAD86C9F}" presName="iconBgRect" presStyleLbl="bgShp" presStyleIdx="0" presStyleCnt="4"/>
      <dgm:spPr/>
    </dgm:pt>
    <dgm:pt modelId="{37C98B5D-BC40-4843-A2F3-3B675BA7327F}" type="pres">
      <dgm:prSet presAssocID="{213F27E7-EDC7-466B-8659-36E4BAD86C9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et Up with solid fill"/>
        </a:ext>
      </dgm:extLst>
    </dgm:pt>
    <dgm:pt modelId="{58EA9B49-1515-4AD6-82EE-4779776FF2CB}" type="pres">
      <dgm:prSet presAssocID="{213F27E7-EDC7-466B-8659-36E4BAD86C9F}" presName="spaceRect" presStyleCnt="0"/>
      <dgm:spPr/>
    </dgm:pt>
    <dgm:pt modelId="{224490BD-D550-484E-AD4A-9F0A135C7C8E}" type="pres">
      <dgm:prSet presAssocID="{213F27E7-EDC7-466B-8659-36E4BAD86C9F}" presName="textRect" presStyleLbl="revTx" presStyleIdx="0" presStyleCnt="4">
        <dgm:presLayoutVars>
          <dgm:chMax val="1"/>
          <dgm:chPref val="1"/>
        </dgm:presLayoutVars>
      </dgm:prSet>
      <dgm:spPr/>
    </dgm:pt>
    <dgm:pt modelId="{0AA8D088-4DF7-4D52-BA6B-BC68CA57DC10}" type="pres">
      <dgm:prSet presAssocID="{63380936-5399-4BD2-83D1-BA1A0CD8FB2B}" presName="sibTrans" presStyleLbl="sibTrans2D1" presStyleIdx="0" presStyleCnt="0"/>
      <dgm:spPr/>
    </dgm:pt>
    <dgm:pt modelId="{B5FFEE2F-4E21-47CD-829C-8D1665419E2E}" type="pres">
      <dgm:prSet presAssocID="{802E36E9-9E4F-4A56-B037-02E82D31AD5A}" presName="compNode" presStyleCnt="0"/>
      <dgm:spPr/>
    </dgm:pt>
    <dgm:pt modelId="{FD2868D3-35E0-4DD8-A7F8-5818981D6265}" type="pres">
      <dgm:prSet presAssocID="{802E36E9-9E4F-4A56-B037-02E82D31AD5A}" presName="iconBgRect" presStyleLbl="bgShp" presStyleIdx="1" presStyleCnt="4"/>
      <dgm:spPr/>
    </dgm:pt>
    <dgm:pt modelId="{AA2691F4-A9D8-422F-8701-0512F7BBF36F}" type="pres">
      <dgm:prSet presAssocID="{802E36E9-9E4F-4A56-B037-02E82D31AD5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8085ACB-6C7D-46D0-9190-E43D25E4A454}" type="pres">
      <dgm:prSet presAssocID="{802E36E9-9E4F-4A56-B037-02E82D31AD5A}" presName="spaceRect" presStyleCnt="0"/>
      <dgm:spPr/>
    </dgm:pt>
    <dgm:pt modelId="{9DBD7F1F-5A2C-4F40-A959-478D9351D71C}" type="pres">
      <dgm:prSet presAssocID="{802E36E9-9E4F-4A56-B037-02E82D31AD5A}" presName="textRect" presStyleLbl="revTx" presStyleIdx="1" presStyleCnt="4">
        <dgm:presLayoutVars>
          <dgm:chMax val="1"/>
          <dgm:chPref val="1"/>
        </dgm:presLayoutVars>
      </dgm:prSet>
      <dgm:spPr/>
    </dgm:pt>
    <dgm:pt modelId="{D18874EB-E26D-48E9-B606-42EC049EC042}" type="pres">
      <dgm:prSet presAssocID="{5DFD6A95-5045-4788-A76C-61A5F4D476B8}" presName="sibTrans" presStyleLbl="sibTrans2D1" presStyleIdx="0" presStyleCnt="0"/>
      <dgm:spPr/>
    </dgm:pt>
    <dgm:pt modelId="{8AA452F2-E3F2-42B6-BD79-89A68ADB3CC1}" type="pres">
      <dgm:prSet presAssocID="{2B466439-901B-4D1A-AE8B-34FBB5F77329}" presName="compNode" presStyleCnt="0"/>
      <dgm:spPr/>
    </dgm:pt>
    <dgm:pt modelId="{C492E8BC-8BD1-4431-8829-C93974F3188A}" type="pres">
      <dgm:prSet presAssocID="{2B466439-901B-4D1A-AE8B-34FBB5F77329}" presName="iconBgRect" presStyleLbl="bgShp" presStyleIdx="2" presStyleCnt="4"/>
      <dgm:spPr/>
    </dgm:pt>
    <dgm:pt modelId="{15C4DC22-D0A1-4790-841D-F1C2D272C3CC}" type="pres">
      <dgm:prSet presAssocID="{2B466439-901B-4D1A-AE8B-34FBB5F7732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DC8FB137-C778-4E67-9D22-F9FBC096FB26}" type="pres">
      <dgm:prSet presAssocID="{2B466439-901B-4D1A-AE8B-34FBB5F77329}" presName="spaceRect" presStyleCnt="0"/>
      <dgm:spPr/>
    </dgm:pt>
    <dgm:pt modelId="{9B2D96B7-53E1-4BDA-8507-FA2BBF3E8D2E}" type="pres">
      <dgm:prSet presAssocID="{2B466439-901B-4D1A-AE8B-34FBB5F77329}" presName="textRect" presStyleLbl="revTx" presStyleIdx="2" presStyleCnt="4">
        <dgm:presLayoutVars>
          <dgm:chMax val="1"/>
          <dgm:chPref val="1"/>
        </dgm:presLayoutVars>
      </dgm:prSet>
      <dgm:spPr/>
    </dgm:pt>
    <dgm:pt modelId="{D8E87142-2743-4D2D-8C8D-4FF8F2C64406}" type="pres">
      <dgm:prSet presAssocID="{F0D559DE-836C-44E0-9D90-94B8B7B6CDF5}" presName="sibTrans" presStyleLbl="sibTrans2D1" presStyleIdx="0" presStyleCnt="0"/>
      <dgm:spPr/>
    </dgm:pt>
    <dgm:pt modelId="{9888C773-AB12-4828-B531-82F09A7B0BF5}" type="pres">
      <dgm:prSet presAssocID="{38354791-3379-47C1-9D14-CD27C484ED76}" presName="compNode" presStyleCnt="0"/>
      <dgm:spPr/>
    </dgm:pt>
    <dgm:pt modelId="{B7CE272D-010C-4C97-BDC1-DC80BFD5810E}" type="pres">
      <dgm:prSet presAssocID="{38354791-3379-47C1-9D14-CD27C484ED76}" presName="iconBgRect" presStyleLbl="bgShp" presStyleIdx="3" presStyleCnt="4"/>
      <dgm:spPr/>
    </dgm:pt>
    <dgm:pt modelId="{D6CF0023-5609-490C-8C71-0A6E0526F9C4}" type="pres">
      <dgm:prSet presAssocID="{38354791-3379-47C1-9D14-CD27C484ED7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A6150119-0CBD-40DC-B259-D7F146A6477F}" type="pres">
      <dgm:prSet presAssocID="{38354791-3379-47C1-9D14-CD27C484ED76}" presName="spaceRect" presStyleCnt="0"/>
      <dgm:spPr/>
    </dgm:pt>
    <dgm:pt modelId="{6B12BA92-6BBC-498A-941E-90EED14AC08A}" type="pres">
      <dgm:prSet presAssocID="{38354791-3379-47C1-9D14-CD27C484ED7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EF18F0A-76F4-C44D-9657-12E275A739F0}" type="presOf" srcId="{2B466439-901B-4D1A-AE8B-34FBB5F77329}" destId="{9B2D96B7-53E1-4BDA-8507-FA2BBF3E8D2E}" srcOrd="0" destOrd="0" presId="urn:microsoft.com/office/officeart/2018/2/layout/IconCircleList"/>
    <dgm:cxn modelId="{C31FB119-FFAB-8143-BED5-94D4064AB2CD}" type="presOf" srcId="{63380936-5399-4BD2-83D1-BA1A0CD8FB2B}" destId="{0AA8D088-4DF7-4D52-BA6B-BC68CA57DC10}" srcOrd="0" destOrd="0" presId="urn:microsoft.com/office/officeart/2018/2/layout/IconCircleList"/>
    <dgm:cxn modelId="{797E342C-A8A5-EB40-BE70-DA0D7C57A129}" type="presOf" srcId="{5DFD6A95-5045-4788-A76C-61A5F4D476B8}" destId="{D18874EB-E26D-48E9-B606-42EC049EC042}" srcOrd="0" destOrd="0" presId="urn:microsoft.com/office/officeart/2018/2/layout/IconCircleList"/>
    <dgm:cxn modelId="{DCE3884F-C5BD-604F-B966-2381A89E0185}" type="presOf" srcId="{802E36E9-9E4F-4A56-B037-02E82D31AD5A}" destId="{9DBD7F1F-5A2C-4F40-A959-478D9351D71C}" srcOrd="0" destOrd="0" presId="urn:microsoft.com/office/officeart/2018/2/layout/IconCircleList"/>
    <dgm:cxn modelId="{E94C6F58-960F-42F1-B0E7-62BA6CF595AF}" srcId="{1AE17F14-BB94-46E7-9215-97B33F17F571}" destId="{213F27E7-EDC7-466B-8659-36E4BAD86C9F}" srcOrd="0" destOrd="0" parTransId="{3F5A6413-C9B9-471C-81EE-7E9EA5203066}" sibTransId="{63380936-5399-4BD2-83D1-BA1A0CD8FB2B}"/>
    <dgm:cxn modelId="{1899D35B-B49E-4292-AB08-8A7091F1A563}" srcId="{1AE17F14-BB94-46E7-9215-97B33F17F571}" destId="{38354791-3379-47C1-9D14-CD27C484ED76}" srcOrd="3" destOrd="0" parTransId="{CC3C904D-87DC-47FB-A095-6C180189E9AE}" sibTransId="{5C438CC1-2994-44B5-A321-70DAE22B7DF4}"/>
    <dgm:cxn modelId="{EC182B5E-F2AC-4F59-A766-6185EF220D0C}" srcId="{1AE17F14-BB94-46E7-9215-97B33F17F571}" destId="{802E36E9-9E4F-4A56-B037-02E82D31AD5A}" srcOrd="1" destOrd="0" parTransId="{B8179A2A-87B6-46CF-A773-9B78AF56E150}" sibTransId="{5DFD6A95-5045-4788-A76C-61A5F4D476B8}"/>
    <dgm:cxn modelId="{117E697A-F388-9A49-B281-AA07C512AD08}" type="presOf" srcId="{213F27E7-EDC7-466B-8659-36E4BAD86C9F}" destId="{224490BD-D550-484E-AD4A-9F0A135C7C8E}" srcOrd="0" destOrd="0" presId="urn:microsoft.com/office/officeart/2018/2/layout/IconCircleList"/>
    <dgm:cxn modelId="{FFCBBF91-4DF1-430E-A857-9D6837DA017B}" srcId="{1AE17F14-BB94-46E7-9215-97B33F17F571}" destId="{2B466439-901B-4D1A-AE8B-34FBB5F77329}" srcOrd="2" destOrd="0" parTransId="{CFF283EF-3776-40DD-B1A4-156039A3452E}" sibTransId="{F0D559DE-836C-44E0-9D90-94B8B7B6CDF5}"/>
    <dgm:cxn modelId="{76E38E98-E705-1445-9DCC-C064B1F6D69E}" type="presOf" srcId="{F0D559DE-836C-44E0-9D90-94B8B7B6CDF5}" destId="{D8E87142-2743-4D2D-8C8D-4FF8F2C64406}" srcOrd="0" destOrd="0" presId="urn:microsoft.com/office/officeart/2018/2/layout/IconCircleList"/>
    <dgm:cxn modelId="{E74FF8AD-1030-49BF-B53C-C23C36814E71}" type="presOf" srcId="{1AE17F14-BB94-46E7-9215-97B33F17F571}" destId="{13CD7A9C-3BA0-41C7-BFC8-559FB27D2FA9}" srcOrd="0" destOrd="0" presId="urn:microsoft.com/office/officeart/2018/2/layout/IconCircleList"/>
    <dgm:cxn modelId="{B9ACF2E6-987F-754B-BF26-ED51C6691BAC}" type="presOf" srcId="{38354791-3379-47C1-9D14-CD27C484ED76}" destId="{6B12BA92-6BBC-498A-941E-90EED14AC08A}" srcOrd="0" destOrd="0" presId="urn:microsoft.com/office/officeart/2018/2/layout/IconCircleList"/>
    <dgm:cxn modelId="{E2388EEA-8202-5F4D-BB02-45024BF74EE8}" type="presParOf" srcId="{13CD7A9C-3BA0-41C7-BFC8-559FB27D2FA9}" destId="{DD391196-0B87-4144-9EEC-5B29473DD722}" srcOrd="0" destOrd="0" presId="urn:microsoft.com/office/officeart/2018/2/layout/IconCircleList"/>
    <dgm:cxn modelId="{D2149D02-AD7F-3645-93EE-D756811810C3}" type="presParOf" srcId="{DD391196-0B87-4144-9EEC-5B29473DD722}" destId="{32397C4D-9186-4658-88A3-4AA5E52E834E}" srcOrd="0" destOrd="0" presId="urn:microsoft.com/office/officeart/2018/2/layout/IconCircleList"/>
    <dgm:cxn modelId="{E9C3025F-BFD7-2E43-8F72-611FBB424DE9}" type="presParOf" srcId="{32397C4D-9186-4658-88A3-4AA5E52E834E}" destId="{E97326EA-2615-4A8D-BF7B-50229B53EF31}" srcOrd="0" destOrd="0" presId="urn:microsoft.com/office/officeart/2018/2/layout/IconCircleList"/>
    <dgm:cxn modelId="{219E3BDC-551F-A345-A9CF-D1D7414358BD}" type="presParOf" srcId="{32397C4D-9186-4658-88A3-4AA5E52E834E}" destId="{37C98B5D-BC40-4843-A2F3-3B675BA7327F}" srcOrd="1" destOrd="0" presId="urn:microsoft.com/office/officeart/2018/2/layout/IconCircleList"/>
    <dgm:cxn modelId="{BBA2B2DE-28EC-3445-BF05-F393409691C6}" type="presParOf" srcId="{32397C4D-9186-4658-88A3-4AA5E52E834E}" destId="{58EA9B49-1515-4AD6-82EE-4779776FF2CB}" srcOrd="2" destOrd="0" presId="urn:microsoft.com/office/officeart/2018/2/layout/IconCircleList"/>
    <dgm:cxn modelId="{FDCB76F4-155A-6E46-85DC-1F4EA1528550}" type="presParOf" srcId="{32397C4D-9186-4658-88A3-4AA5E52E834E}" destId="{224490BD-D550-484E-AD4A-9F0A135C7C8E}" srcOrd="3" destOrd="0" presId="urn:microsoft.com/office/officeart/2018/2/layout/IconCircleList"/>
    <dgm:cxn modelId="{DE9305FC-2F62-FD4A-A221-036AA6A568C8}" type="presParOf" srcId="{DD391196-0B87-4144-9EEC-5B29473DD722}" destId="{0AA8D088-4DF7-4D52-BA6B-BC68CA57DC10}" srcOrd="1" destOrd="0" presId="urn:microsoft.com/office/officeart/2018/2/layout/IconCircleList"/>
    <dgm:cxn modelId="{68AE3096-100E-4C4A-8EAC-F7CCDFEFCAF5}" type="presParOf" srcId="{DD391196-0B87-4144-9EEC-5B29473DD722}" destId="{B5FFEE2F-4E21-47CD-829C-8D1665419E2E}" srcOrd="2" destOrd="0" presId="urn:microsoft.com/office/officeart/2018/2/layout/IconCircleList"/>
    <dgm:cxn modelId="{5C47C9BE-4923-AA40-870C-91A7473B50C3}" type="presParOf" srcId="{B5FFEE2F-4E21-47CD-829C-8D1665419E2E}" destId="{FD2868D3-35E0-4DD8-A7F8-5818981D6265}" srcOrd="0" destOrd="0" presId="urn:microsoft.com/office/officeart/2018/2/layout/IconCircleList"/>
    <dgm:cxn modelId="{27583A94-B158-BB49-B652-CCAFBA790034}" type="presParOf" srcId="{B5FFEE2F-4E21-47CD-829C-8D1665419E2E}" destId="{AA2691F4-A9D8-422F-8701-0512F7BBF36F}" srcOrd="1" destOrd="0" presId="urn:microsoft.com/office/officeart/2018/2/layout/IconCircleList"/>
    <dgm:cxn modelId="{69A1B3A8-2F7E-7544-B5E3-F29DB06A8DA7}" type="presParOf" srcId="{B5FFEE2F-4E21-47CD-829C-8D1665419E2E}" destId="{18085ACB-6C7D-46D0-9190-E43D25E4A454}" srcOrd="2" destOrd="0" presId="urn:microsoft.com/office/officeart/2018/2/layout/IconCircleList"/>
    <dgm:cxn modelId="{83C8E4A1-4DAD-4840-8939-7DC45BA1FBD5}" type="presParOf" srcId="{B5FFEE2F-4E21-47CD-829C-8D1665419E2E}" destId="{9DBD7F1F-5A2C-4F40-A959-478D9351D71C}" srcOrd="3" destOrd="0" presId="urn:microsoft.com/office/officeart/2018/2/layout/IconCircleList"/>
    <dgm:cxn modelId="{DE4816FC-2B78-6D4E-8796-A643DF9CDEFE}" type="presParOf" srcId="{DD391196-0B87-4144-9EEC-5B29473DD722}" destId="{D18874EB-E26D-48E9-B606-42EC049EC042}" srcOrd="3" destOrd="0" presId="urn:microsoft.com/office/officeart/2018/2/layout/IconCircleList"/>
    <dgm:cxn modelId="{8C804420-3FC7-6C49-B8EE-4ECA7A7EB227}" type="presParOf" srcId="{DD391196-0B87-4144-9EEC-5B29473DD722}" destId="{8AA452F2-E3F2-42B6-BD79-89A68ADB3CC1}" srcOrd="4" destOrd="0" presId="urn:microsoft.com/office/officeart/2018/2/layout/IconCircleList"/>
    <dgm:cxn modelId="{E5FADF4C-A8DA-A945-A57F-12C89AD7BE54}" type="presParOf" srcId="{8AA452F2-E3F2-42B6-BD79-89A68ADB3CC1}" destId="{C492E8BC-8BD1-4431-8829-C93974F3188A}" srcOrd="0" destOrd="0" presId="urn:microsoft.com/office/officeart/2018/2/layout/IconCircleList"/>
    <dgm:cxn modelId="{CBBE112D-C3D6-074A-AC4D-96434974CC17}" type="presParOf" srcId="{8AA452F2-E3F2-42B6-BD79-89A68ADB3CC1}" destId="{15C4DC22-D0A1-4790-841D-F1C2D272C3CC}" srcOrd="1" destOrd="0" presId="urn:microsoft.com/office/officeart/2018/2/layout/IconCircleList"/>
    <dgm:cxn modelId="{DDF1FD91-86EF-754B-842C-E0B5C054989A}" type="presParOf" srcId="{8AA452F2-E3F2-42B6-BD79-89A68ADB3CC1}" destId="{DC8FB137-C778-4E67-9D22-F9FBC096FB26}" srcOrd="2" destOrd="0" presId="urn:microsoft.com/office/officeart/2018/2/layout/IconCircleList"/>
    <dgm:cxn modelId="{DDEB8014-D5F4-174B-A90C-491DAEC5B2C7}" type="presParOf" srcId="{8AA452F2-E3F2-42B6-BD79-89A68ADB3CC1}" destId="{9B2D96B7-53E1-4BDA-8507-FA2BBF3E8D2E}" srcOrd="3" destOrd="0" presId="urn:microsoft.com/office/officeart/2018/2/layout/IconCircleList"/>
    <dgm:cxn modelId="{5F392ECD-2E39-5E49-973B-B1EF592F1230}" type="presParOf" srcId="{DD391196-0B87-4144-9EEC-5B29473DD722}" destId="{D8E87142-2743-4D2D-8C8D-4FF8F2C64406}" srcOrd="5" destOrd="0" presId="urn:microsoft.com/office/officeart/2018/2/layout/IconCircleList"/>
    <dgm:cxn modelId="{7568D9AF-93D9-AE4D-99E9-19DEC8594C20}" type="presParOf" srcId="{DD391196-0B87-4144-9EEC-5B29473DD722}" destId="{9888C773-AB12-4828-B531-82F09A7B0BF5}" srcOrd="6" destOrd="0" presId="urn:microsoft.com/office/officeart/2018/2/layout/IconCircleList"/>
    <dgm:cxn modelId="{D7141610-99B9-1E47-8F0F-8F2D2CAE07AE}" type="presParOf" srcId="{9888C773-AB12-4828-B531-82F09A7B0BF5}" destId="{B7CE272D-010C-4C97-BDC1-DC80BFD5810E}" srcOrd="0" destOrd="0" presId="urn:microsoft.com/office/officeart/2018/2/layout/IconCircleList"/>
    <dgm:cxn modelId="{641C175C-5CB6-8D48-9D1B-C2881A13DF52}" type="presParOf" srcId="{9888C773-AB12-4828-B531-82F09A7B0BF5}" destId="{D6CF0023-5609-490C-8C71-0A6E0526F9C4}" srcOrd="1" destOrd="0" presId="urn:microsoft.com/office/officeart/2018/2/layout/IconCircleList"/>
    <dgm:cxn modelId="{B3BF881D-762F-9243-AB40-2C01199C4AA2}" type="presParOf" srcId="{9888C773-AB12-4828-B531-82F09A7B0BF5}" destId="{A6150119-0CBD-40DC-B259-D7F146A6477F}" srcOrd="2" destOrd="0" presId="urn:microsoft.com/office/officeart/2018/2/layout/IconCircleList"/>
    <dgm:cxn modelId="{78F805E4-E653-FA40-8F91-50A0CF0BC2EE}" type="presParOf" srcId="{9888C773-AB12-4828-B531-82F09A7B0BF5}" destId="{6B12BA92-6BBC-498A-941E-90EED14AC08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A667C00-DA5D-409C-9062-AA5E8DB14A3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700945B-63D4-4E0A-9173-0823AE25625A}">
      <dgm:prSet/>
      <dgm:spPr/>
      <dgm:t>
        <a:bodyPr/>
        <a:lstStyle/>
        <a:p>
          <a:pPr>
            <a:defRPr b="1"/>
          </a:pPr>
          <a:r>
            <a:rPr lang="en-US" b="0" i="0"/>
            <a:t>Group patients based on history and behavior into three groups:</a:t>
          </a:r>
          <a:endParaRPr lang="en-US"/>
        </a:p>
      </dgm:t>
    </dgm:pt>
    <dgm:pt modelId="{4145A43F-5D31-4927-860A-E9258BB5FC37}" type="parTrans" cxnId="{45AA777D-423B-4E48-860A-DD2DC410BE1D}">
      <dgm:prSet/>
      <dgm:spPr/>
      <dgm:t>
        <a:bodyPr/>
        <a:lstStyle/>
        <a:p>
          <a:endParaRPr lang="en-US"/>
        </a:p>
      </dgm:t>
    </dgm:pt>
    <dgm:pt modelId="{87384AED-5155-44E2-9008-7D87CADD159D}" type="sibTrans" cxnId="{45AA777D-423B-4E48-860A-DD2DC410BE1D}">
      <dgm:prSet/>
      <dgm:spPr/>
      <dgm:t>
        <a:bodyPr/>
        <a:lstStyle/>
        <a:p>
          <a:endParaRPr lang="en-US"/>
        </a:p>
      </dgm:t>
    </dgm:pt>
    <dgm:pt modelId="{D811DAF0-76D2-4C42-8572-2990A522B893}">
      <dgm:prSet/>
      <dgm:spPr/>
      <dgm:t>
        <a:bodyPr/>
        <a:lstStyle/>
        <a:p>
          <a:r>
            <a:rPr lang="en-US" b="0" i="0"/>
            <a:t>Low-Risk</a:t>
          </a:r>
          <a:endParaRPr lang="en-US"/>
        </a:p>
      </dgm:t>
    </dgm:pt>
    <dgm:pt modelId="{6D6944AF-5336-4C76-ADF6-A4D651656D3D}" type="parTrans" cxnId="{A05B89D4-EF02-4F0D-8251-E9F282B4BDB0}">
      <dgm:prSet/>
      <dgm:spPr/>
      <dgm:t>
        <a:bodyPr/>
        <a:lstStyle/>
        <a:p>
          <a:endParaRPr lang="en-US"/>
        </a:p>
      </dgm:t>
    </dgm:pt>
    <dgm:pt modelId="{4261C867-1F28-457A-8AD6-8FB31FFF003E}" type="sibTrans" cxnId="{A05B89D4-EF02-4F0D-8251-E9F282B4BDB0}">
      <dgm:prSet/>
      <dgm:spPr/>
      <dgm:t>
        <a:bodyPr/>
        <a:lstStyle/>
        <a:p>
          <a:endParaRPr lang="en-US"/>
        </a:p>
      </dgm:t>
    </dgm:pt>
    <dgm:pt modelId="{B0DDAC16-CF8E-415D-AE7C-AEB84AB03DE2}">
      <dgm:prSet/>
      <dgm:spPr/>
      <dgm:t>
        <a:bodyPr/>
        <a:lstStyle/>
        <a:p>
          <a:r>
            <a:rPr lang="en-US" b="0" i="0"/>
            <a:t>Medium-Risk</a:t>
          </a:r>
          <a:endParaRPr lang="en-US"/>
        </a:p>
      </dgm:t>
    </dgm:pt>
    <dgm:pt modelId="{08A2A955-9947-4D96-88E2-1B448777B0BF}" type="parTrans" cxnId="{BA8A9F80-0B39-46E9-BD32-E256D7310649}">
      <dgm:prSet/>
      <dgm:spPr/>
      <dgm:t>
        <a:bodyPr/>
        <a:lstStyle/>
        <a:p>
          <a:endParaRPr lang="en-US"/>
        </a:p>
      </dgm:t>
    </dgm:pt>
    <dgm:pt modelId="{CCC26CDE-D728-4264-BD93-D4962F331559}" type="sibTrans" cxnId="{BA8A9F80-0B39-46E9-BD32-E256D7310649}">
      <dgm:prSet/>
      <dgm:spPr/>
      <dgm:t>
        <a:bodyPr/>
        <a:lstStyle/>
        <a:p>
          <a:endParaRPr lang="en-US"/>
        </a:p>
      </dgm:t>
    </dgm:pt>
    <dgm:pt modelId="{04122803-BB8A-4960-BFE0-7AFC12152841}">
      <dgm:prSet/>
      <dgm:spPr/>
      <dgm:t>
        <a:bodyPr/>
        <a:lstStyle/>
        <a:p>
          <a:r>
            <a:rPr lang="en-US" b="0" i="0"/>
            <a:t>High-Risk</a:t>
          </a:r>
          <a:endParaRPr lang="en-US"/>
        </a:p>
      </dgm:t>
    </dgm:pt>
    <dgm:pt modelId="{BD097A70-D419-4394-AFD9-8182F900A2B6}" type="parTrans" cxnId="{9451CCF7-9C42-47C1-9A94-12F2C0D195B7}">
      <dgm:prSet/>
      <dgm:spPr/>
      <dgm:t>
        <a:bodyPr/>
        <a:lstStyle/>
        <a:p>
          <a:endParaRPr lang="en-US"/>
        </a:p>
      </dgm:t>
    </dgm:pt>
    <dgm:pt modelId="{308B3A50-3343-401A-9A14-7C83E1E406FC}" type="sibTrans" cxnId="{9451CCF7-9C42-47C1-9A94-12F2C0D195B7}">
      <dgm:prSet/>
      <dgm:spPr/>
      <dgm:t>
        <a:bodyPr/>
        <a:lstStyle/>
        <a:p>
          <a:endParaRPr lang="en-US"/>
        </a:p>
      </dgm:t>
    </dgm:pt>
    <dgm:pt modelId="{AF76D299-C66B-41AB-B831-B1BA73C33E00}">
      <dgm:prSet/>
      <dgm:spPr/>
      <dgm:t>
        <a:bodyPr/>
        <a:lstStyle/>
        <a:p>
          <a:pPr>
            <a:defRPr b="1"/>
          </a:pPr>
          <a:r>
            <a:rPr lang="en-US" b="0" i="0"/>
            <a:t>How this helps:</a:t>
          </a:r>
          <a:endParaRPr lang="en-US"/>
        </a:p>
      </dgm:t>
    </dgm:pt>
    <dgm:pt modelId="{F1A385DD-19D1-4A0F-946E-C7D3D5F525CD}" type="parTrans" cxnId="{1FA3F799-DAC3-41F7-884D-5CFD901664D2}">
      <dgm:prSet/>
      <dgm:spPr/>
      <dgm:t>
        <a:bodyPr/>
        <a:lstStyle/>
        <a:p>
          <a:endParaRPr lang="en-US"/>
        </a:p>
      </dgm:t>
    </dgm:pt>
    <dgm:pt modelId="{CB6F4205-CBE4-43F9-8F2F-2B517E201914}" type="sibTrans" cxnId="{1FA3F799-DAC3-41F7-884D-5CFD901664D2}">
      <dgm:prSet/>
      <dgm:spPr/>
      <dgm:t>
        <a:bodyPr/>
        <a:lstStyle/>
        <a:p>
          <a:endParaRPr lang="en-US"/>
        </a:p>
      </dgm:t>
    </dgm:pt>
    <dgm:pt modelId="{468887AB-81E2-4FDF-B4FF-0C2B388E3D28}">
      <dgm:prSet/>
      <dgm:spPr/>
      <dgm:t>
        <a:bodyPr/>
        <a:lstStyle/>
        <a:p>
          <a:r>
            <a:rPr lang="en-US" b="0" i="0"/>
            <a:t>With patients segmented into groups, the hospital can identify certain groups that are more likely to be readmitted. Hospitals could prioritize discharge planning and patient follow-ups based on this segmentation.</a:t>
          </a:r>
          <a:endParaRPr lang="en-US"/>
        </a:p>
      </dgm:t>
    </dgm:pt>
    <dgm:pt modelId="{CAC239AD-9453-491A-BE55-0011A6804E69}" type="parTrans" cxnId="{77C3AE91-FFBF-4DC1-B82D-460532D3DB85}">
      <dgm:prSet/>
      <dgm:spPr/>
      <dgm:t>
        <a:bodyPr/>
        <a:lstStyle/>
        <a:p>
          <a:endParaRPr lang="en-US"/>
        </a:p>
      </dgm:t>
    </dgm:pt>
    <dgm:pt modelId="{655A1A92-D314-45CF-968A-1A24454EB7E9}" type="sibTrans" cxnId="{77C3AE91-FFBF-4DC1-B82D-460532D3DB85}">
      <dgm:prSet/>
      <dgm:spPr/>
      <dgm:t>
        <a:bodyPr/>
        <a:lstStyle/>
        <a:p>
          <a:endParaRPr lang="en-US"/>
        </a:p>
      </dgm:t>
    </dgm:pt>
    <dgm:pt modelId="{1F9B9E7D-4ADB-4CE8-983A-9D709D320702}" type="pres">
      <dgm:prSet presAssocID="{CA667C00-DA5D-409C-9062-AA5E8DB14A3D}" presName="root" presStyleCnt="0">
        <dgm:presLayoutVars>
          <dgm:dir/>
          <dgm:resizeHandles val="exact"/>
        </dgm:presLayoutVars>
      </dgm:prSet>
      <dgm:spPr/>
    </dgm:pt>
    <dgm:pt modelId="{77647BAE-26EA-4DFE-AFFB-D52BC9752BCD}" type="pres">
      <dgm:prSet presAssocID="{0700945B-63D4-4E0A-9173-0823AE25625A}" presName="compNode" presStyleCnt="0"/>
      <dgm:spPr/>
    </dgm:pt>
    <dgm:pt modelId="{3A4C711E-63F0-4586-A815-BAF81CA7FF91}" type="pres">
      <dgm:prSet presAssocID="{0700945B-63D4-4E0A-9173-0823AE25625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65C051E5-4AD7-4281-A4C6-3EFEF0198622}" type="pres">
      <dgm:prSet presAssocID="{0700945B-63D4-4E0A-9173-0823AE25625A}" presName="iconSpace" presStyleCnt="0"/>
      <dgm:spPr/>
    </dgm:pt>
    <dgm:pt modelId="{60AD0C29-0AB6-4430-959B-A49321BD59E4}" type="pres">
      <dgm:prSet presAssocID="{0700945B-63D4-4E0A-9173-0823AE25625A}" presName="parTx" presStyleLbl="revTx" presStyleIdx="0" presStyleCnt="4">
        <dgm:presLayoutVars>
          <dgm:chMax val="0"/>
          <dgm:chPref val="0"/>
        </dgm:presLayoutVars>
      </dgm:prSet>
      <dgm:spPr/>
    </dgm:pt>
    <dgm:pt modelId="{765344F9-6EF5-4F44-889C-C9EA0D372A32}" type="pres">
      <dgm:prSet presAssocID="{0700945B-63D4-4E0A-9173-0823AE25625A}" presName="txSpace" presStyleCnt="0"/>
      <dgm:spPr/>
    </dgm:pt>
    <dgm:pt modelId="{A1E31FE7-40A4-476D-82A2-D7ACFD8D9E47}" type="pres">
      <dgm:prSet presAssocID="{0700945B-63D4-4E0A-9173-0823AE25625A}" presName="desTx" presStyleLbl="revTx" presStyleIdx="1" presStyleCnt="4">
        <dgm:presLayoutVars/>
      </dgm:prSet>
      <dgm:spPr/>
    </dgm:pt>
    <dgm:pt modelId="{35C7F012-6084-4813-AF03-6B17A3B38754}" type="pres">
      <dgm:prSet presAssocID="{87384AED-5155-44E2-9008-7D87CADD159D}" presName="sibTrans" presStyleCnt="0"/>
      <dgm:spPr/>
    </dgm:pt>
    <dgm:pt modelId="{3D5B8639-3074-421E-A47A-BBE475A3C543}" type="pres">
      <dgm:prSet presAssocID="{AF76D299-C66B-41AB-B831-B1BA73C33E00}" presName="compNode" presStyleCnt="0"/>
      <dgm:spPr/>
    </dgm:pt>
    <dgm:pt modelId="{DF5E3DF6-06E2-4FA7-8BDA-9FB90F60C20C}" type="pres">
      <dgm:prSet presAssocID="{AF76D299-C66B-41AB-B831-B1BA73C33E0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C64F9AAB-CD18-4953-A9BD-8E396FDD52F3}" type="pres">
      <dgm:prSet presAssocID="{AF76D299-C66B-41AB-B831-B1BA73C33E00}" presName="iconSpace" presStyleCnt="0"/>
      <dgm:spPr/>
    </dgm:pt>
    <dgm:pt modelId="{C605DE88-A457-4549-B749-C6DED5AB87B5}" type="pres">
      <dgm:prSet presAssocID="{AF76D299-C66B-41AB-B831-B1BA73C33E00}" presName="parTx" presStyleLbl="revTx" presStyleIdx="2" presStyleCnt="4">
        <dgm:presLayoutVars>
          <dgm:chMax val="0"/>
          <dgm:chPref val="0"/>
        </dgm:presLayoutVars>
      </dgm:prSet>
      <dgm:spPr/>
    </dgm:pt>
    <dgm:pt modelId="{D1E2B848-BDF0-420A-A7B0-5C4AE275D65C}" type="pres">
      <dgm:prSet presAssocID="{AF76D299-C66B-41AB-B831-B1BA73C33E00}" presName="txSpace" presStyleCnt="0"/>
      <dgm:spPr/>
    </dgm:pt>
    <dgm:pt modelId="{FFF804C9-DD3F-4D99-8184-56F482F737D1}" type="pres">
      <dgm:prSet presAssocID="{AF76D299-C66B-41AB-B831-B1BA73C33E00}" presName="desTx" presStyleLbl="revTx" presStyleIdx="3" presStyleCnt="4">
        <dgm:presLayoutVars/>
      </dgm:prSet>
      <dgm:spPr/>
    </dgm:pt>
  </dgm:ptLst>
  <dgm:cxnLst>
    <dgm:cxn modelId="{4E90AC09-A7B5-40D0-BD5F-B678360AB8A7}" type="presOf" srcId="{AF76D299-C66B-41AB-B831-B1BA73C33E00}" destId="{C605DE88-A457-4549-B749-C6DED5AB87B5}" srcOrd="0" destOrd="0" presId="urn:microsoft.com/office/officeart/2018/2/layout/IconLabelDescriptionList"/>
    <dgm:cxn modelId="{E0EBCC09-F182-49A9-ABC2-3888CF52FC0E}" type="presOf" srcId="{D811DAF0-76D2-4C42-8572-2990A522B893}" destId="{A1E31FE7-40A4-476D-82A2-D7ACFD8D9E47}" srcOrd="0" destOrd="0" presId="urn:microsoft.com/office/officeart/2018/2/layout/IconLabelDescriptionList"/>
    <dgm:cxn modelId="{FB96E63B-A8AF-43C8-BA0D-58036CF86695}" type="presOf" srcId="{B0DDAC16-CF8E-415D-AE7C-AEB84AB03DE2}" destId="{A1E31FE7-40A4-476D-82A2-D7ACFD8D9E47}" srcOrd="0" destOrd="1" presId="urn:microsoft.com/office/officeart/2018/2/layout/IconLabelDescriptionList"/>
    <dgm:cxn modelId="{45AA777D-423B-4E48-860A-DD2DC410BE1D}" srcId="{CA667C00-DA5D-409C-9062-AA5E8DB14A3D}" destId="{0700945B-63D4-4E0A-9173-0823AE25625A}" srcOrd="0" destOrd="0" parTransId="{4145A43F-5D31-4927-860A-E9258BB5FC37}" sibTransId="{87384AED-5155-44E2-9008-7D87CADD159D}"/>
    <dgm:cxn modelId="{BA8A9F80-0B39-46E9-BD32-E256D7310649}" srcId="{0700945B-63D4-4E0A-9173-0823AE25625A}" destId="{B0DDAC16-CF8E-415D-AE7C-AEB84AB03DE2}" srcOrd="1" destOrd="0" parTransId="{08A2A955-9947-4D96-88E2-1B448777B0BF}" sibTransId="{CCC26CDE-D728-4264-BD93-D4962F331559}"/>
    <dgm:cxn modelId="{96210385-4A97-4FE0-94DB-B3E9DF7D2E9E}" type="presOf" srcId="{0700945B-63D4-4E0A-9173-0823AE25625A}" destId="{60AD0C29-0AB6-4430-959B-A49321BD59E4}" srcOrd="0" destOrd="0" presId="urn:microsoft.com/office/officeart/2018/2/layout/IconLabelDescriptionList"/>
    <dgm:cxn modelId="{77C3AE91-FFBF-4DC1-B82D-460532D3DB85}" srcId="{AF76D299-C66B-41AB-B831-B1BA73C33E00}" destId="{468887AB-81E2-4FDF-B4FF-0C2B388E3D28}" srcOrd="0" destOrd="0" parTransId="{CAC239AD-9453-491A-BE55-0011A6804E69}" sibTransId="{655A1A92-D314-45CF-968A-1A24454EB7E9}"/>
    <dgm:cxn modelId="{1FA3F799-DAC3-41F7-884D-5CFD901664D2}" srcId="{CA667C00-DA5D-409C-9062-AA5E8DB14A3D}" destId="{AF76D299-C66B-41AB-B831-B1BA73C33E00}" srcOrd="1" destOrd="0" parTransId="{F1A385DD-19D1-4A0F-946E-C7D3D5F525CD}" sibTransId="{CB6F4205-CBE4-43F9-8F2F-2B517E201914}"/>
    <dgm:cxn modelId="{9B2B989C-F534-4865-BA4C-2012088B44F4}" type="presOf" srcId="{CA667C00-DA5D-409C-9062-AA5E8DB14A3D}" destId="{1F9B9E7D-4ADB-4CE8-983A-9D709D320702}" srcOrd="0" destOrd="0" presId="urn:microsoft.com/office/officeart/2018/2/layout/IconLabelDescriptionList"/>
    <dgm:cxn modelId="{B71AD89D-F32D-4475-81A7-FABB4D60FADF}" type="presOf" srcId="{04122803-BB8A-4960-BFE0-7AFC12152841}" destId="{A1E31FE7-40A4-476D-82A2-D7ACFD8D9E47}" srcOrd="0" destOrd="2" presId="urn:microsoft.com/office/officeart/2018/2/layout/IconLabelDescriptionList"/>
    <dgm:cxn modelId="{A05B89D4-EF02-4F0D-8251-E9F282B4BDB0}" srcId="{0700945B-63D4-4E0A-9173-0823AE25625A}" destId="{D811DAF0-76D2-4C42-8572-2990A522B893}" srcOrd="0" destOrd="0" parTransId="{6D6944AF-5336-4C76-ADF6-A4D651656D3D}" sibTransId="{4261C867-1F28-457A-8AD6-8FB31FFF003E}"/>
    <dgm:cxn modelId="{1FCEF6D6-8AC1-45DB-A409-406042C75159}" type="presOf" srcId="{468887AB-81E2-4FDF-B4FF-0C2B388E3D28}" destId="{FFF804C9-DD3F-4D99-8184-56F482F737D1}" srcOrd="0" destOrd="0" presId="urn:microsoft.com/office/officeart/2018/2/layout/IconLabelDescriptionList"/>
    <dgm:cxn modelId="{9451CCF7-9C42-47C1-9A94-12F2C0D195B7}" srcId="{0700945B-63D4-4E0A-9173-0823AE25625A}" destId="{04122803-BB8A-4960-BFE0-7AFC12152841}" srcOrd="2" destOrd="0" parTransId="{BD097A70-D419-4394-AFD9-8182F900A2B6}" sibTransId="{308B3A50-3343-401A-9A14-7C83E1E406FC}"/>
    <dgm:cxn modelId="{7CB4C854-0539-47D9-B4A7-B3D4B2293F8C}" type="presParOf" srcId="{1F9B9E7D-4ADB-4CE8-983A-9D709D320702}" destId="{77647BAE-26EA-4DFE-AFFB-D52BC9752BCD}" srcOrd="0" destOrd="0" presId="urn:microsoft.com/office/officeart/2018/2/layout/IconLabelDescriptionList"/>
    <dgm:cxn modelId="{B392D0E6-781C-4545-B448-66E1CBA50DEF}" type="presParOf" srcId="{77647BAE-26EA-4DFE-AFFB-D52BC9752BCD}" destId="{3A4C711E-63F0-4586-A815-BAF81CA7FF91}" srcOrd="0" destOrd="0" presId="urn:microsoft.com/office/officeart/2018/2/layout/IconLabelDescriptionList"/>
    <dgm:cxn modelId="{7254F7D3-EED2-41BD-AA40-4A45483E34FE}" type="presParOf" srcId="{77647BAE-26EA-4DFE-AFFB-D52BC9752BCD}" destId="{65C051E5-4AD7-4281-A4C6-3EFEF0198622}" srcOrd="1" destOrd="0" presId="urn:microsoft.com/office/officeart/2018/2/layout/IconLabelDescriptionList"/>
    <dgm:cxn modelId="{2FFA58E9-1787-4849-BFC3-AC2584880BB8}" type="presParOf" srcId="{77647BAE-26EA-4DFE-AFFB-D52BC9752BCD}" destId="{60AD0C29-0AB6-4430-959B-A49321BD59E4}" srcOrd="2" destOrd="0" presId="urn:microsoft.com/office/officeart/2018/2/layout/IconLabelDescriptionList"/>
    <dgm:cxn modelId="{8D1BB25D-A056-46F8-8C8C-812F97844DFB}" type="presParOf" srcId="{77647BAE-26EA-4DFE-AFFB-D52BC9752BCD}" destId="{765344F9-6EF5-4F44-889C-C9EA0D372A32}" srcOrd="3" destOrd="0" presId="urn:microsoft.com/office/officeart/2018/2/layout/IconLabelDescriptionList"/>
    <dgm:cxn modelId="{AD284EC4-900F-4104-9587-B8F38BC4E21D}" type="presParOf" srcId="{77647BAE-26EA-4DFE-AFFB-D52BC9752BCD}" destId="{A1E31FE7-40A4-476D-82A2-D7ACFD8D9E47}" srcOrd="4" destOrd="0" presId="urn:microsoft.com/office/officeart/2018/2/layout/IconLabelDescriptionList"/>
    <dgm:cxn modelId="{EE2A8BFE-CE18-409A-B320-33764C55E938}" type="presParOf" srcId="{1F9B9E7D-4ADB-4CE8-983A-9D709D320702}" destId="{35C7F012-6084-4813-AF03-6B17A3B38754}" srcOrd="1" destOrd="0" presId="urn:microsoft.com/office/officeart/2018/2/layout/IconLabelDescriptionList"/>
    <dgm:cxn modelId="{2FF91225-D393-4840-AF98-50737F619D89}" type="presParOf" srcId="{1F9B9E7D-4ADB-4CE8-983A-9D709D320702}" destId="{3D5B8639-3074-421E-A47A-BBE475A3C543}" srcOrd="2" destOrd="0" presId="urn:microsoft.com/office/officeart/2018/2/layout/IconLabelDescriptionList"/>
    <dgm:cxn modelId="{114F8421-942A-434D-A729-AAD6A2B84C41}" type="presParOf" srcId="{3D5B8639-3074-421E-A47A-BBE475A3C543}" destId="{DF5E3DF6-06E2-4FA7-8BDA-9FB90F60C20C}" srcOrd="0" destOrd="0" presId="urn:microsoft.com/office/officeart/2018/2/layout/IconLabelDescriptionList"/>
    <dgm:cxn modelId="{5E938895-0D90-49A4-BAD3-B789394281A9}" type="presParOf" srcId="{3D5B8639-3074-421E-A47A-BBE475A3C543}" destId="{C64F9AAB-CD18-4953-A9BD-8E396FDD52F3}" srcOrd="1" destOrd="0" presId="urn:microsoft.com/office/officeart/2018/2/layout/IconLabelDescriptionList"/>
    <dgm:cxn modelId="{B8915DEE-7289-4347-A86C-E3C3398B5C93}" type="presParOf" srcId="{3D5B8639-3074-421E-A47A-BBE475A3C543}" destId="{C605DE88-A457-4549-B749-C6DED5AB87B5}" srcOrd="2" destOrd="0" presId="urn:microsoft.com/office/officeart/2018/2/layout/IconLabelDescriptionList"/>
    <dgm:cxn modelId="{522A6000-F943-42CD-AAF0-885000DFF316}" type="presParOf" srcId="{3D5B8639-3074-421E-A47A-BBE475A3C543}" destId="{D1E2B848-BDF0-420A-A7B0-5C4AE275D65C}" srcOrd="3" destOrd="0" presId="urn:microsoft.com/office/officeart/2018/2/layout/IconLabelDescriptionList"/>
    <dgm:cxn modelId="{0807ACD8-8FF2-4916-93C9-F734F4D7F81E}" type="presParOf" srcId="{3D5B8639-3074-421E-A47A-BBE475A3C543}" destId="{FFF804C9-DD3F-4D99-8184-56F482F737D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3148B0A-BA53-463C-AE38-661829A28EB9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5870FCE-4663-4783-AC3E-26E65784C89D}">
      <dgm:prSet/>
      <dgm:spPr/>
      <dgm:t>
        <a:bodyPr/>
        <a:lstStyle/>
        <a:p>
          <a:r>
            <a:rPr lang="en-US" dirty="0"/>
            <a:t>A small patient cohort drives a disproportionate share of readmissions</a:t>
          </a:r>
        </a:p>
      </dgm:t>
    </dgm:pt>
    <dgm:pt modelId="{80F54E06-6ADE-4C8F-8C52-7621A1AA7AA1}" type="parTrans" cxnId="{5F252B88-E937-49C0-BC41-C7E05023BB23}">
      <dgm:prSet/>
      <dgm:spPr/>
      <dgm:t>
        <a:bodyPr/>
        <a:lstStyle/>
        <a:p>
          <a:endParaRPr lang="en-US"/>
        </a:p>
      </dgm:t>
    </dgm:pt>
    <dgm:pt modelId="{4CEA86F3-1D72-434B-ACEB-51A6260D7D53}" type="sibTrans" cxnId="{5F252B88-E937-49C0-BC41-C7E05023BB2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EB141B3-DADF-4B1F-9664-5C7F3F434C68}">
      <dgm:prSet/>
      <dgm:spPr/>
      <dgm:t>
        <a:bodyPr/>
        <a:lstStyle/>
        <a:p>
          <a:r>
            <a:rPr lang="en-US" dirty="0"/>
            <a:t>Prior ER utilization is the strongest predictor of 30-day return</a:t>
          </a:r>
        </a:p>
      </dgm:t>
    </dgm:pt>
    <dgm:pt modelId="{7BC19D61-2AE4-4E2C-AC11-8257C16DBF07}" type="parTrans" cxnId="{ADA82037-722B-4F4D-87E3-E3ACDECE7766}">
      <dgm:prSet/>
      <dgm:spPr/>
      <dgm:t>
        <a:bodyPr/>
        <a:lstStyle/>
        <a:p>
          <a:endParaRPr lang="en-US"/>
        </a:p>
      </dgm:t>
    </dgm:pt>
    <dgm:pt modelId="{751A79F4-9780-478A-9BF2-D90BDCC88E20}" type="sibTrans" cxnId="{ADA82037-722B-4F4D-87E3-E3ACDECE776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09089702-864E-4F28-A283-A66C7F037006}">
      <dgm:prSet/>
      <dgm:spPr/>
      <dgm:t>
        <a:bodyPr/>
        <a:lstStyle/>
        <a:p>
          <a:r>
            <a:rPr lang="en-US" dirty="0"/>
            <a:t>Targeted follow-ups could reduce penalties and improve bed availability</a:t>
          </a:r>
        </a:p>
      </dgm:t>
    </dgm:pt>
    <dgm:pt modelId="{BB823838-9845-4F5F-92FF-D4B0BB6002DE}" type="parTrans" cxnId="{2879DC30-B13E-41DB-A812-5E1B8FA2E6A5}">
      <dgm:prSet/>
      <dgm:spPr/>
      <dgm:t>
        <a:bodyPr/>
        <a:lstStyle/>
        <a:p>
          <a:endParaRPr lang="en-US"/>
        </a:p>
      </dgm:t>
    </dgm:pt>
    <dgm:pt modelId="{82A419FE-188E-4867-8A45-C4C54FA22CE5}" type="sibTrans" cxnId="{2879DC30-B13E-41DB-A812-5E1B8FA2E6A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E208888-99B5-FB41-B261-DD2C74C1A0DD}" type="pres">
      <dgm:prSet presAssocID="{C3148B0A-BA53-463C-AE38-661829A28EB9}" presName="Name0" presStyleCnt="0">
        <dgm:presLayoutVars>
          <dgm:animLvl val="lvl"/>
          <dgm:resizeHandles val="exact"/>
        </dgm:presLayoutVars>
      </dgm:prSet>
      <dgm:spPr/>
    </dgm:pt>
    <dgm:pt modelId="{A1BE91E4-B836-0E4E-993D-E16C49D10BD2}" type="pres">
      <dgm:prSet presAssocID="{15870FCE-4663-4783-AC3E-26E65784C89D}" presName="compositeNode" presStyleCnt="0">
        <dgm:presLayoutVars>
          <dgm:bulletEnabled val="1"/>
        </dgm:presLayoutVars>
      </dgm:prSet>
      <dgm:spPr/>
    </dgm:pt>
    <dgm:pt modelId="{2702FC81-3E25-BF43-9C4A-5E2C5D62F38B}" type="pres">
      <dgm:prSet presAssocID="{15870FCE-4663-4783-AC3E-26E65784C89D}" presName="bgRect" presStyleLbl="bgAccFollowNode1" presStyleIdx="0" presStyleCnt="3"/>
      <dgm:spPr/>
    </dgm:pt>
    <dgm:pt modelId="{669BFF04-0BD1-C542-8904-E5B1BA064BB7}" type="pres">
      <dgm:prSet presAssocID="{4CEA86F3-1D72-434B-ACEB-51A6260D7D53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6402A507-2FA9-6044-BE4E-D98D697897A9}" type="pres">
      <dgm:prSet presAssocID="{15870FCE-4663-4783-AC3E-26E65784C89D}" presName="bottomLine" presStyleLbl="alignNode1" presStyleIdx="1" presStyleCnt="6">
        <dgm:presLayoutVars/>
      </dgm:prSet>
      <dgm:spPr/>
    </dgm:pt>
    <dgm:pt modelId="{B8CE806A-885E-4D4D-94CE-3A6AD559DFFC}" type="pres">
      <dgm:prSet presAssocID="{15870FCE-4663-4783-AC3E-26E65784C89D}" presName="nodeText" presStyleLbl="bgAccFollowNode1" presStyleIdx="0" presStyleCnt="3">
        <dgm:presLayoutVars>
          <dgm:bulletEnabled val="1"/>
        </dgm:presLayoutVars>
      </dgm:prSet>
      <dgm:spPr/>
    </dgm:pt>
    <dgm:pt modelId="{39A654C0-F4EA-904F-AD0A-81A27B8C754D}" type="pres">
      <dgm:prSet presAssocID="{4CEA86F3-1D72-434B-ACEB-51A6260D7D53}" presName="sibTrans" presStyleCnt="0"/>
      <dgm:spPr/>
    </dgm:pt>
    <dgm:pt modelId="{9D406C83-4B3B-8341-A6E9-38307701AC7C}" type="pres">
      <dgm:prSet presAssocID="{7EB141B3-DADF-4B1F-9664-5C7F3F434C68}" presName="compositeNode" presStyleCnt="0">
        <dgm:presLayoutVars>
          <dgm:bulletEnabled val="1"/>
        </dgm:presLayoutVars>
      </dgm:prSet>
      <dgm:spPr/>
    </dgm:pt>
    <dgm:pt modelId="{70EEFD5C-D40A-9F4E-9E13-E1BE61CA0418}" type="pres">
      <dgm:prSet presAssocID="{7EB141B3-DADF-4B1F-9664-5C7F3F434C68}" presName="bgRect" presStyleLbl="bgAccFollowNode1" presStyleIdx="1" presStyleCnt="3"/>
      <dgm:spPr/>
    </dgm:pt>
    <dgm:pt modelId="{B43017E8-D6B7-A947-98A0-99A929709238}" type="pres">
      <dgm:prSet presAssocID="{751A79F4-9780-478A-9BF2-D90BDCC88E20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1B23C518-6636-B84F-BCFD-73690BAAEFF6}" type="pres">
      <dgm:prSet presAssocID="{7EB141B3-DADF-4B1F-9664-5C7F3F434C68}" presName="bottomLine" presStyleLbl="alignNode1" presStyleIdx="3" presStyleCnt="6">
        <dgm:presLayoutVars/>
      </dgm:prSet>
      <dgm:spPr/>
    </dgm:pt>
    <dgm:pt modelId="{87D95840-4150-7F46-973C-D35AF8110673}" type="pres">
      <dgm:prSet presAssocID="{7EB141B3-DADF-4B1F-9664-5C7F3F434C68}" presName="nodeText" presStyleLbl="bgAccFollowNode1" presStyleIdx="1" presStyleCnt="3">
        <dgm:presLayoutVars>
          <dgm:bulletEnabled val="1"/>
        </dgm:presLayoutVars>
      </dgm:prSet>
      <dgm:spPr/>
    </dgm:pt>
    <dgm:pt modelId="{7E48EDAA-A85C-A345-99FF-CBB7C1324255}" type="pres">
      <dgm:prSet presAssocID="{751A79F4-9780-478A-9BF2-D90BDCC88E20}" presName="sibTrans" presStyleCnt="0"/>
      <dgm:spPr/>
    </dgm:pt>
    <dgm:pt modelId="{F4B3D71B-D7EF-EC4D-A152-1319207E1DC4}" type="pres">
      <dgm:prSet presAssocID="{09089702-864E-4F28-A283-A66C7F037006}" presName="compositeNode" presStyleCnt="0">
        <dgm:presLayoutVars>
          <dgm:bulletEnabled val="1"/>
        </dgm:presLayoutVars>
      </dgm:prSet>
      <dgm:spPr/>
    </dgm:pt>
    <dgm:pt modelId="{85B7E326-5DE7-724E-82D5-288F996EA5C9}" type="pres">
      <dgm:prSet presAssocID="{09089702-864E-4F28-A283-A66C7F037006}" presName="bgRect" presStyleLbl="bgAccFollowNode1" presStyleIdx="2" presStyleCnt="3"/>
      <dgm:spPr/>
    </dgm:pt>
    <dgm:pt modelId="{1FA1E910-6CB7-8549-987D-74D47BD4920A}" type="pres">
      <dgm:prSet presAssocID="{82A419FE-188E-4867-8A45-C4C54FA22CE5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95B4BFFB-66C7-4E49-AB6A-F91DAD59A58C}" type="pres">
      <dgm:prSet presAssocID="{09089702-864E-4F28-A283-A66C7F037006}" presName="bottomLine" presStyleLbl="alignNode1" presStyleIdx="5" presStyleCnt="6">
        <dgm:presLayoutVars/>
      </dgm:prSet>
      <dgm:spPr/>
    </dgm:pt>
    <dgm:pt modelId="{895A479E-D015-984B-8A7E-DBE0D3432306}" type="pres">
      <dgm:prSet presAssocID="{09089702-864E-4F28-A283-A66C7F037006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3CA3E128-768F-D84C-AA0C-EB1B316AA9C5}" type="presOf" srcId="{82A419FE-188E-4867-8A45-C4C54FA22CE5}" destId="{1FA1E910-6CB7-8549-987D-74D47BD4920A}" srcOrd="0" destOrd="0" presId="urn:microsoft.com/office/officeart/2016/7/layout/BasicLinearProcessNumbered"/>
    <dgm:cxn modelId="{2879DC30-B13E-41DB-A812-5E1B8FA2E6A5}" srcId="{C3148B0A-BA53-463C-AE38-661829A28EB9}" destId="{09089702-864E-4F28-A283-A66C7F037006}" srcOrd="2" destOrd="0" parTransId="{BB823838-9845-4F5F-92FF-D4B0BB6002DE}" sibTransId="{82A419FE-188E-4867-8A45-C4C54FA22CE5}"/>
    <dgm:cxn modelId="{ADA82037-722B-4F4D-87E3-E3ACDECE7766}" srcId="{C3148B0A-BA53-463C-AE38-661829A28EB9}" destId="{7EB141B3-DADF-4B1F-9664-5C7F3F434C68}" srcOrd="1" destOrd="0" parTransId="{7BC19D61-2AE4-4E2C-AC11-8257C16DBF07}" sibTransId="{751A79F4-9780-478A-9BF2-D90BDCC88E20}"/>
    <dgm:cxn modelId="{D8AED839-25F2-E043-B505-2A5C2AA9870D}" type="presOf" srcId="{4CEA86F3-1D72-434B-ACEB-51A6260D7D53}" destId="{669BFF04-0BD1-C542-8904-E5B1BA064BB7}" srcOrd="0" destOrd="0" presId="urn:microsoft.com/office/officeart/2016/7/layout/BasicLinearProcessNumbered"/>
    <dgm:cxn modelId="{5F166B65-B964-A44E-8F36-3F9719E7FF22}" type="presOf" srcId="{C3148B0A-BA53-463C-AE38-661829A28EB9}" destId="{BE208888-99B5-FB41-B261-DD2C74C1A0DD}" srcOrd="0" destOrd="0" presId="urn:microsoft.com/office/officeart/2016/7/layout/BasicLinearProcessNumbered"/>
    <dgm:cxn modelId="{E335E775-A8B5-B845-92EB-CAF933F1F4E9}" type="presOf" srcId="{15870FCE-4663-4783-AC3E-26E65784C89D}" destId="{B8CE806A-885E-4D4D-94CE-3A6AD559DFFC}" srcOrd="1" destOrd="0" presId="urn:microsoft.com/office/officeart/2016/7/layout/BasicLinearProcessNumbered"/>
    <dgm:cxn modelId="{1CB0F378-4C42-7E42-A40F-B17F4379A3E2}" type="presOf" srcId="{7EB141B3-DADF-4B1F-9664-5C7F3F434C68}" destId="{70EEFD5C-D40A-9F4E-9E13-E1BE61CA0418}" srcOrd="0" destOrd="0" presId="urn:microsoft.com/office/officeart/2016/7/layout/BasicLinearProcessNumbered"/>
    <dgm:cxn modelId="{5F252B88-E937-49C0-BC41-C7E05023BB23}" srcId="{C3148B0A-BA53-463C-AE38-661829A28EB9}" destId="{15870FCE-4663-4783-AC3E-26E65784C89D}" srcOrd="0" destOrd="0" parTransId="{80F54E06-6ADE-4C8F-8C52-7621A1AA7AA1}" sibTransId="{4CEA86F3-1D72-434B-ACEB-51A6260D7D53}"/>
    <dgm:cxn modelId="{87F50FD3-D752-2F42-93B6-91EBC69E7B8C}" type="presOf" srcId="{09089702-864E-4F28-A283-A66C7F037006}" destId="{85B7E326-5DE7-724E-82D5-288F996EA5C9}" srcOrd="0" destOrd="0" presId="urn:microsoft.com/office/officeart/2016/7/layout/BasicLinearProcessNumbered"/>
    <dgm:cxn modelId="{E6F922D6-8014-F547-935D-CFF16ACC6F51}" type="presOf" srcId="{7EB141B3-DADF-4B1F-9664-5C7F3F434C68}" destId="{87D95840-4150-7F46-973C-D35AF8110673}" srcOrd="1" destOrd="0" presId="urn:microsoft.com/office/officeart/2016/7/layout/BasicLinearProcessNumbered"/>
    <dgm:cxn modelId="{E17129DC-2AF0-1A45-8729-352F30210928}" type="presOf" srcId="{09089702-864E-4F28-A283-A66C7F037006}" destId="{895A479E-D015-984B-8A7E-DBE0D3432306}" srcOrd="1" destOrd="0" presId="urn:microsoft.com/office/officeart/2016/7/layout/BasicLinearProcessNumbered"/>
    <dgm:cxn modelId="{0C15F9EB-4FAC-4D49-A171-45934872B8B1}" type="presOf" srcId="{15870FCE-4663-4783-AC3E-26E65784C89D}" destId="{2702FC81-3E25-BF43-9C4A-5E2C5D62F38B}" srcOrd="0" destOrd="0" presId="urn:microsoft.com/office/officeart/2016/7/layout/BasicLinearProcessNumbered"/>
    <dgm:cxn modelId="{E82986F8-9D36-DA48-B1A5-11853281B791}" type="presOf" srcId="{751A79F4-9780-478A-9BF2-D90BDCC88E20}" destId="{B43017E8-D6B7-A947-98A0-99A929709238}" srcOrd="0" destOrd="0" presId="urn:microsoft.com/office/officeart/2016/7/layout/BasicLinearProcessNumbered"/>
    <dgm:cxn modelId="{960A8160-468C-FA42-B07D-A7B407D5851C}" type="presParOf" srcId="{BE208888-99B5-FB41-B261-DD2C74C1A0DD}" destId="{A1BE91E4-B836-0E4E-993D-E16C49D10BD2}" srcOrd="0" destOrd="0" presId="urn:microsoft.com/office/officeart/2016/7/layout/BasicLinearProcessNumbered"/>
    <dgm:cxn modelId="{89105805-C62B-D04D-A2A0-22E218E82BEA}" type="presParOf" srcId="{A1BE91E4-B836-0E4E-993D-E16C49D10BD2}" destId="{2702FC81-3E25-BF43-9C4A-5E2C5D62F38B}" srcOrd="0" destOrd="0" presId="urn:microsoft.com/office/officeart/2016/7/layout/BasicLinearProcessNumbered"/>
    <dgm:cxn modelId="{84D58920-B516-7F4D-85E0-7FCB5B167F7C}" type="presParOf" srcId="{A1BE91E4-B836-0E4E-993D-E16C49D10BD2}" destId="{669BFF04-0BD1-C542-8904-E5B1BA064BB7}" srcOrd="1" destOrd="0" presId="urn:microsoft.com/office/officeart/2016/7/layout/BasicLinearProcessNumbered"/>
    <dgm:cxn modelId="{5EE3DEA8-1445-CE45-A401-B0D0A1D36748}" type="presParOf" srcId="{A1BE91E4-B836-0E4E-993D-E16C49D10BD2}" destId="{6402A507-2FA9-6044-BE4E-D98D697897A9}" srcOrd="2" destOrd="0" presId="urn:microsoft.com/office/officeart/2016/7/layout/BasicLinearProcessNumbered"/>
    <dgm:cxn modelId="{2B24EF0A-35DD-6640-862A-F32FB8DCF36C}" type="presParOf" srcId="{A1BE91E4-B836-0E4E-993D-E16C49D10BD2}" destId="{B8CE806A-885E-4D4D-94CE-3A6AD559DFFC}" srcOrd="3" destOrd="0" presId="urn:microsoft.com/office/officeart/2016/7/layout/BasicLinearProcessNumbered"/>
    <dgm:cxn modelId="{60763D6C-4590-2E4D-92C6-5B5AAD7E61DD}" type="presParOf" srcId="{BE208888-99B5-FB41-B261-DD2C74C1A0DD}" destId="{39A654C0-F4EA-904F-AD0A-81A27B8C754D}" srcOrd="1" destOrd="0" presId="urn:microsoft.com/office/officeart/2016/7/layout/BasicLinearProcessNumbered"/>
    <dgm:cxn modelId="{22AE918A-A94B-9946-92FD-3B79EA2D0663}" type="presParOf" srcId="{BE208888-99B5-FB41-B261-DD2C74C1A0DD}" destId="{9D406C83-4B3B-8341-A6E9-38307701AC7C}" srcOrd="2" destOrd="0" presId="urn:microsoft.com/office/officeart/2016/7/layout/BasicLinearProcessNumbered"/>
    <dgm:cxn modelId="{9CDF5122-BBAC-AB4F-9EC5-82D6373E2776}" type="presParOf" srcId="{9D406C83-4B3B-8341-A6E9-38307701AC7C}" destId="{70EEFD5C-D40A-9F4E-9E13-E1BE61CA0418}" srcOrd="0" destOrd="0" presId="urn:microsoft.com/office/officeart/2016/7/layout/BasicLinearProcessNumbered"/>
    <dgm:cxn modelId="{5FC7BA8B-2DE0-0440-A633-63A03D44D053}" type="presParOf" srcId="{9D406C83-4B3B-8341-A6E9-38307701AC7C}" destId="{B43017E8-D6B7-A947-98A0-99A929709238}" srcOrd="1" destOrd="0" presId="urn:microsoft.com/office/officeart/2016/7/layout/BasicLinearProcessNumbered"/>
    <dgm:cxn modelId="{08C9AA74-F6E3-074F-B743-EA3FF1CFAC7F}" type="presParOf" srcId="{9D406C83-4B3B-8341-A6E9-38307701AC7C}" destId="{1B23C518-6636-B84F-BCFD-73690BAAEFF6}" srcOrd="2" destOrd="0" presId="urn:microsoft.com/office/officeart/2016/7/layout/BasicLinearProcessNumbered"/>
    <dgm:cxn modelId="{1BA21AF2-9F1B-CB44-9455-D6D00B895588}" type="presParOf" srcId="{9D406C83-4B3B-8341-A6E9-38307701AC7C}" destId="{87D95840-4150-7F46-973C-D35AF8110673}" srcOrd="3" destOrd="0" presId="urn:microsoft.com/office/officeart/2016/7/layout/BasicLinearProcessNumbered"/>
    <dgm:cxn modelId="{21265C4A-94FF-3349-8BEB-84C45D7AA207}" type="presParOf" srcId="{BE208888-99B5-FB41-B261-DD2C74C1A0DD}" destId="{7E48EDAA-A85C-A345-99FF-CBB7C1324255}" srcOrd="3" destOrd="0" presId="urn:microsoft.com/office/officeart/2016/7/layout/BasicLinearProcessNumbered"/>
    <dgm:cxn modelId="{8DFE6931-C5C2-5941-9D6F-3E42461F6117}" type="presParOf" srcId="{BE208888-99B5-FB41-B261-DD2C74C1A0DD}" destId="{F4B3D71B-D7EF-EC4D-A152-1319207E1DC4}" srcOrd="4" destOrd="0" presId="urn:microsoft.com/office/officeart/2016/7/layout/BasicLinearProcessNumbered"/>
    <dgm:cxn modelId="{8336085D-7B39-CB40-AC0A-E85B2FAD45C3}" type="presParOf" srcId="{F4B3D71B-D7EF-EC4D-A152-1319207E1DC4}" destId="{85B7E326-5DE7-724E-82D5-288F996EA5C9}" srcOrd="0" destOrd="0" presId="urn:microsoft.com/office/officeart/2016/7/layout/BasicLinearProcessNumbered"/>
    <dgm:cxn modelId="{98700A93-1A1D-6740-95C4-7F798DF48591}" type="presParOf" srcId="{F4B3D71B-D7EF-EC4D-A152-1319207E1DC4}" destId="{1FA1E910-6CB7-8549-987D-74D47BD4920A}" srcOrd="1" destOrd="0" presId="urn:microsoft.com/office/officeart/2016/7/layout/BasicLinearProcessNumbered"/>
    <dgm:cxn modelId="{BBD566D0-B08F-5346-A742-CDDF4E9E8F89}" type="presParOf" srcId="{F4B3D71B-D7EF-EC4D-A152-1319207E1DC4}" destId="{95B4BFFB-66C7-4E49-AB6A-F91DAD59A58C}" srcOrd="2" destOrd="0" presId="urn:microsoft.com/office/officeart/2016/7/layout/BasicLinearProcessNumbered"/>
    <dgm:cxn modelId="{603A40A0-D51F-2E43-9166-C241E812B369}" type="presParOf" srcId="{F4B3D71B-D7EF-EC4D-A152-1319207E1DC4}" destId="{895A479E-D015-984B-8A7E-DBE0D343230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C64547-AFF7-438E-8C9C-543FA75B329F}">
      <dsp:nvSpPr>
        <dsp:cNvPr id="0" name=""/>
        <dsp:cNvSpPr/>
      </dsp:nvSpPr>
      <dsp:spPr>
        <a:xfrm>
          <a:off x="170604" y="601884"/>
          <a:ext cx="1139240" cy="11392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CBC8AD-1356-4A91-8909-853B59C9375B}">
      <dsp:nvSpPr>
        <dsp:cNvPr id="0" name=""/>
        <dsp:cNvSpPr/>
      </dsp:nvSpPr>
      <dsp:spPr>
        <a:xfrm>
          <a:off x="409845" y="841124"/>
          <a:ext cx="660759" cy="6607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372C5F-8D77-41C5-AF59-26309F2A123A}">
      <dsp:nvSpPr>
        <dsp:cNvPr id="0" name=""/>
        <dsp:cNvSpPr/>
      </dsp:nvSpPr>
      <dsp:spPr>
        <a:xfrm>
          <a:off x="1553967" y="601884"/>
          <a:ext cx="2685351" cy="1139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Readmissions increase hospital penalties</a:t>
          </a:r>
          <a:endParaRPr lang="en-US" sz="2400" kern="1200"/>
        </a:p>
      </dsp:txBody>
      <dsp:txXfrm>
        <a:off x="1553967" y="601884"/>
        <a:ext cx="2685351" cy="1139240"/>
      </dsp:txXfrm>
    </dsp:sp>
    <dsp:sp modelId="{4D350FAF-07DE-4DEB-86DE-1FED5DBE0480}">
      <dsp:nvSpPr>
        <dsp:cNvPr id="0" name=""/>
        <dsp:cNvSpPr/>
      </dsp:nvSpPr>
      <dsp:spPr>
        <a:xfrm>
          <a:off x="4707221" y="601884"/>
          <a:ext cx="1139240" cy="11392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ABB25-528E-4BB1-855C-DBE3420752C0}">
      <dsp:nvSpPr>
        <dsp:cNvPr id="0" name=""/>
        <dsp:cNvSpPr/>
      </dsp:nvSpPr>
      <dsp:spPr>
        <a:xfrm>
          <a:off x="4946462" y="841124"/>
          <a:ext cx="660759" cy="6607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AB0176-86D4-4D61-8003-E50BDA0A8636}">
      <dsp:nvSpPr>
        <dsp:cNvPr id="0" name=""/>
        <dsp:cNvSpPr/>
      </dsp:nvSpPr>
      <dsp:spPr>
        <a:xfrm>
          <a:off x="6090584" y="601884"/>
          <a:ext cx="2685351" cy="1139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Strain staff capacity</a:t>
          </a:r>
          <a:endParaRPr lang="en-US" sz="2400" kern="1200"/>
        </a:p>
      </dsp:txBody>
      <dsp:txXfrm>
        <a:off x="6090584" y="601884"/>
        <a:ext cx="2685351" cy="1139240"/>
      </dsp:txXfrm>
    </dsp:sp>
    <dsp:sp modelId="{204D6D8D-1922-4428-8BDF-B7B55FBD3FCE}">
      <dsp:nvSpPr>
        <dsp:cNvPr id="0" name=""/>
        <dsp:cNvSpPr/>
      </dsp:nvSpPr>
      <dsp:spPr>
        <a:xfrm>
          <a:off x="170604" y="2454356"/>
          <a:ext cx="1139240" cy="11392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53599F-E2D8-453E-9CF9-58F014DA6FB6}">
      <dsp:nvSpPr>
        <dsp:cNvPr id="0" name=""/>
        <dsp:cNvSpPr/>
      </dsp:nvSpPr>
      <dsp:spPr>
        <a:xfrm>
          <a:off x="409845" y="2693596"/>
          <a:ext cx="660759" cy="6607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97C96-7498-4163-A2FA-20F95E52AE32}">
      <dsp:nvSpPr>
        <dsp:cNvPr id="0" name=""/>
        <dsp:cNvSpPr/>
      </dsp:nvSpPr>
      <dsp:spPr>
        <a:xfrm>
          <a:off x="1553967" y="2454356"/>
          <a:ext cx="2685351" cy="1139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Signal gaps in care continuity</a:t>
          </a:r>
          <a:endParaRPr lang="en-US" sz="2400" kern="1200"/>
        </a:p>
      </dsp:txBody>
      <dsp:txXfrm>
        <a:off x="1553967" y="2454356"/>
        <a:ext cx="2685351" cy="1139240"/>
      </dsp:txXfrm>
    </dsp:sp>
    <dsp:sp modelId="{F3E119DB-B91E-4628-AE65-A6C43EB9C60D}">
      <dsp:nvSpPr>
        <dsp:cNvPr id="0" name=""/>
        <dsp:cNvSpPr/>
      </dsp:nvSpPr>
      <dsp:spPr>
        <a:xfrm>
          <a:off x="4707221" y="2454356"/>
          <a:ext cx="1139240" cy="11392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7C4FE3-B239-4427-AAAA-0E08D08BCE4B}">
      <dsp:nvSpPr>
        <dsp:cNvPr id="0" name=""/>
        <dsp:cNvSpPr/>
      </dsp:nvSpPr>
      <dsp:spPr>
        <a:xfrm>
          <a:off x="4946462" y="2693596"/>
          <a:ext cx="660759" cy="6607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6B513B-413E-4669-96BF-FA5B8897B686}">
      <dsp:nvSpPr>
        <dsp:cNvPr id="0" name=""/>
        <dsp:cNvSpPr/>
      </dsp:nvSpPr>
      <dsp:spPr>
        <a:xfrm>
          <a:off x="6090584" y="2454356"/>
          <a:ext cx="2685351" cy="1139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Reduces quality ratings</a:t>
          </a:r>
          <a:endParaRPr lang="en-US" sz="2400" kern="1200" dirty="0"/>
        </a:p>
      </dsp:txBody>
      <dsp:txXfrm>
        <a:off x="6090584" y="2454356"/>
        <a:ext cx="2685351" cy="11392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041BC9-F93B-D845-B638-093CDC5F149E}">
      <dsp:nvSpPr>
        <dsp:cNvPr id="0" name=""/>
        <dsp:cNvSpPr/>
      </dsp:nvSpPr>
      <dsp:spPr>
        <a:xfrm>
          <a:off x="0" y="2048"/>
          <a:ext cx="89465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9AAC12-A2D7-7548-874B-0F69F8B7310F}">
      <dsp:nvSpPr>
        <dsp:cNvPr id="0" name=""/>
        <dsp:cNvSpPr/>
      </dsp:nvSpPr>
      <dsp:spPr>
        <a:xfrm>
          <a:off x="0" y="2048"/>
          <a:ext cx="8946541" cy="698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100,000+ patient encounters</a:t>
          </a:r>
          <a:endParaRPr lang="en-US" sz="3400" kern="1200"/>
        </a:p>
      </dsp:txBody>
      <dsp:txXfrm>
        <a:off x="0" y="2048"/>
        <a:ext cx="8946541" cy="698563"/>
      </dsp:txXfrm>
    </dsp:sp>
    <dsp:sp modelId="{2DCFBE73-D24C-6849-8283-7A859D5A7301}">
      <dsp:nvSpPr>
        <dsp:cNvPr id="0" name=""/>
        <dsp:cNvSpPr/>
      </dsp:nvSpPr>
      <dsp:spPr>
        <a:xfrm>
          <a:off x="0" y="700612"/>
          <a:ext cx="89465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8CF4A0-8AB6-7D48-B57B-9190DF015F6B}">
      <dsp:nvSpPr>
        <dsp:cNvPr id="0" name=""/>
        <dsp:cNvSpPr/>
      </dsp:nvSpPr>
      <dsp:spPr>
        <a:xfrm>
          <a:off x="0" y="700612"/>
          <a:ext cx="8946541" cy="698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50+ clinical variables</a:t>
          </a:r>
          <a:endParaRPr lang="en-US" sz="3400" kern="1200"/>
        </a:p>
      </dsp:txBody>
      <dsp:txXfrm>
        <a:off x="0" y="700612"/>
        <a:ext cx="8946541" cy="698563"/>
      </dsp:txXfrm>
    </dsp:sp>
    <dsp:sp modelId="{E05E1C25-1ED3-F240-BEFF-6F79DD2DF162}">
      <dsp:nvSpPr>
        <dsp:cNvPr id="0" name=""/>
        <dsp:cNvSpPr/>
      </dsp:nvSpPr>
      <dsp:spPr>
        <a:xfrm>
          <a:off x="0" y="1399176"/>
          <a:ext cx="89465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908786-DE8E-9E42-8440-CE6FFEB29AA0}">
      <dsp:nvSpPr>
        <dsp:cNvPr id="0" name=""/>
        <dsp:cNvSpPr/>
      </dsp:nvSpPr>
      <dsp:spPr>
        <a:xfrm>
          <a:off x="0" y="1399176"/>
          <a:ext cx="8946541" cy="698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Medication history</a:t>
          </a:r>
          <a:endParaRPr lang="en-US" sz="3400" kern="1200"/>
        </a:p>
      </dsp:txBody>
      <dsp:txXfrm>
        <a:off x="0" y="1399176"/>
        <a:ext cx="8946541" cy="698563"/>
      </dsp:txXfrm>
    </dsp:sp>
    <dsp:sp modelId="{4C3320D7-121D-AF4B-AA6D-A3A8CDDC386E}">
      <dsp:nvSpPr>
        <dsp:cNvPr id="0" name=""/>
        <dsp:cNvSpPr/>
      </dsp:nvSpPr>
      <dsp:spPr>
        <a:xfrm>
          <a:off x="0" y="2097740"/>
          <a:ext cx="89465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CFE1ED-3832-9045-80E8-67258FAD0571}">
      <dsp:nvSpPr>
        <dsp:cNvPr id="0" name=""/>
        <dsp:cNvSpPr/>
      </dsp:nvSpPr>
      <dsp:spPr>
        <a:xfrm>
          <a:off x="0" y="2097740"/>
          <a:ext cx="8946541" cy="698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Lab results</a:t>
          </a:r>
          <a:endParaRPr lang="en-US" sz="3400" kern="1200"/>
        </a:p>
      </dsp:txBody>
      <dsp:txXfrm>
        <a:off x="0" y="2097740"/>
        <a:ext cx="8946541" cy="698563"/>
      </dsp:txXfrm>
    </dsp:sp>
    <dsp:sp modelId="{F7F3507A-C30D-1246-811F-BDDC5C29F5DF}">
      <dsp:nvSpPr>
        <dsp:cNvPr id="0" name=""/>
        <dsp:cNvSpPr/>
      </dsp:nvSpPr>
      <dsp:spPr>
        <a:xfrm>
          <a:off x="0" y="2796304"/>
          <a:ext cx="89465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52A4F-AC3B-344E-B867-11AF496C943B}">
      <dsp:nvSpPr>
        <dsp:cNvPr id="0" name=""/>
        <dsp:cNvSpPr/>
      </dsp:nvSpPr>
      <dsp:spPr>
        <a:xfrm>
          <a:off x="0" y="2796304"/>
          <a:ext cx="8946541" cy="698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ER visit history</a:t>
          </a:r>
          <a:endParaRPr lang="en-US" sz="3400" kern="1200"/>
        </a:p>
      </dsp:txBody>
      <dsp:txXfrm>
        <a:off x="0" y="2796304"/>
        <a:ext cx="8946541" cy="698563"/>
      </dsp:txXfrm>
    </dsp:sp>
    <dsp:sp modelId="{5EAEB79F-35BE-AD4C-B19E-E1DD86FA8E2A}">
      <dsp:nvSpPr>
        <dsp:cNvPr id="0" name=""/>
        <dsp:cNvSpPr/>
      </dsp:nvSpPr>
      <dsp:spPr>
        <a:xfrm>
          <a:off x="0" y="3494868"/>
          <a:ext cx="89465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BFD305-B812-CA43-A083-7E5B0C8F50E0}">
      <dsp:nvSpPr>
        <dsp:cNvPr id="0" name=""/>
        <dsp:cNvSpPr/>
      </dsp:nvSpPr>
      <dsp:spPr>
        <a:xfrm>
          <a:off x="0" y="3494868"/>
          <a:ext cx="8946541" cy="698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Goal: Predict 30-day readmission risk</a:t>
          </a:r>
          <a:endParaRPr lang="en-US" sz="3400" kern="1200"/>
        </a:p>
      </dsp:txBody>
      <dsp:txXfrm>
        <a:off x="0" y="3494868"/>
        <a:ext cx="8946541" cy="6985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BAB03E-7811-994A-86D2-697A0F30C0C6}">
      <dsp:nvSpPr>
        <dsp:cNvPr id="0" name=""/>
        <dsp:cNvSpPr/>
      </dsp:nvSpPr>
      <dsp:spPr>
        <a:xfrm>
          <a:off x="53" y="174592"/>
          <a:ext cx="5091244" cy="98536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Data set: </a:t>
          </a:r>
          <a:r>
            <a:rPr lang="en-US" sz="2900" b="1" i="0" kern="1200" dirty="0"/>
            <a:t>Diabetes 130 US hospitals for years 1999-2008</a:t>
          </a:r>
        </a:p>
      </dsp:txBody>
      <dsp:txXfrm>
        <a:off x="53" y="174592"/>
        <a:ext cx="5091244" cy="985362"/>
      </dsp:txXfrm>
    </dsp:sp>
    <dsp:sp modelId="{8339530B-D2EC-9C4C-8741-15A5944D0D26}">
      <dsp:nvSpPr>
        <dsp:cNvPr id="0" name=""/>
        <dsp:cNvSpPr/>
      </dsp:nvSpPr>
      <dsp:spPr>
        <a:xfrm>
          <a:off x="53" y="1159954"/>
          <a:ext cx="5091244" cy="206973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Patient Demographics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Diagnoses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Medication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Encounter History</a:t>
          </a:r>
        </a:p>
      </dsp:txBody>
      <dsp:txXfrm>
        <a:off x="53" y="1159954"/>
        <a:ext cx="5091244" cy="2069730"/>
      </dsp:txXfrm>
    </dsp:sp>
    <dsp:sp modelId="{A07677A2-17D1-1F46-B51E-BEEA94FD0976}">
      <dsp:nvSpPr>
        <dsp:cNvPr id="0" name=""/>
        <dsp:cNvSpPr/>
      </dsp:nvSpPr>
      <dsp:spPr>
        <a:xfrm>
          <a:off x="5804072" y="174592"/>
          <a:ext cx="5091244" cy="985362"/>
        </a:xfrm>
        <a:prstGeom prst="rect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9050" cap="rnd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Goal</a:t>
          </a:r>
        </a:p>
      </dsp:txBody>
      <dsp:txXfrm>
        <a:off x="5804072" y="174592"/>
        <a:ext cx="5091244" cy="985362"/>
      </dsp:txXfrm>
    </dsp:sp>
    <dsp:sp modelId="{30728889-1AF6-C44B-A003-1E4271031563}">
      <dsp:nvSpPr>
        <dsp:cNvPr id="0" name=""/>
        <dsp:cNvSpPr/>
      </dsp:nvSpPr>
      <dsp:spPr>
        <a:xfrm>
          <a:off x="5804072" y="1159954"/>
          <a:ext cx="5091244" cy="2069730"/>
        </a:xfrm>
        <a:prstGeom prst="rect">
          <a:avLst/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Identify patients at high risk for readmission in less than 30 days before they are discharged.</a:t>
          </a:r>
        </a:p>
      </dsp:txBody>
      <dsp:txXfrm>
        <a:off x="5804072" y="1159954"/>
        <a:ext cx="5091244" cy="20697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7326EA-2615-4A8D-BF7B-50229B53EF31}">
      <dsp:nvSpPr>
        <dsp:cNvPr id="0" name=""/>
        <dsp:cNvSpPr/>
      </dsp:nvSpPr>
      <dsp:spPr>
        <a:xfrm>
          <a:off x="170604" y="601884"/>
          <a:ext cx="1139240" cy="11392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C98B5D-BC40-4843-A2F3-3B675BA7327F}">
      <dsp:nvSpPr>
        <dsp:cNvPr id="0" name=""/>
        <dsp:cNvSpPr/>
      </dsp:nvSpPr>
      <dsp:spPr>
        <a:xfrm>
          <a:off x="409845" y="841124"/>
          <a:ext cx="660759" cy="6607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490BD-D550-484E-AD4A-9F0A135C7C8E}">
      <dsp:nvSpPr>
        <dsp:cNvPr id="0" name=""/>
        <dsp:cNvSpPr/>
      </dsp:nvSpPr>
      <dsp:spPr>
        <a:xfrm>
          <a:off x="1553967" y="601884"/>
          <a:ext cx="2685351" cy="1139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Certain diagnoses groups had 2-3x higher readmission risk</a:t>
          </a:r>
          <a:endParaRPr lang="en-US" sz="1800" kern="1200"/>
        </a:p>
      </dsp:txBody>
      <dsp:txXfrm>
        <a:off x="1553967" y="601884"/>
        <a:ext cx="2685351" cy="1139240"/>
      </dsp:txXfrm>
    </dsp:sp>
    <dsp:sp modelId="{FD2868D3-35E0-4DD8-A7F8-5818981D6265}">
      <dsp:nvSpPr>
        <dsp:cNvPr id="0" name=""/>
        <dsp:cNvSpPr/>
      </dsp:nvSpPr>
      <dsp:spPr>
        <a:xfrm>
          <a:off x="4707221" y="601884"/>
          <a:ext cx="1139240" cy="11392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2691F4-A9D8-422F-8701-0512F7BBF36F}">
      <dsp:nvSpPr>
        <dsp:cNvPr id="0" name=""/>
        <dsp:cNvSpPr/>
      </dsp:nvSpPr>
      <dsp:spPr>
        <a:xfrm>
          <a:off x="4946462" y="841124"/>
          <a:ext cx="660759" cy="6607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D7F1F-5A2C-4F40-A959-478D9351D71C}">
      <dsp:nvSpPr>
        <dsp:cNvPr id="0" name=""/>
        <dsp:cNvSpPr/>
      </dsp:nvSpPr>
      <dsp:spPr>
        <a:xfrm>
          <a:off x="6090584" y="601884"/>
          <a:ext cx="2685351" cy="1139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Frequent prior visits strongly predicted return</a:t>
          </a:r>
          <a:endParaRPr lang="en-US" sz="1800" kern="1200"/>
        </a:p>
      </dsp:txBody>
      <dsp:txXfrm>
        <a:off x="6090584" y="601884"/>
        <a:ext cx="2685351" cy="1139240"/>
      </dsp:txXfrm>
    </dsp:sp>
    <dsp:sp modelId="{C492E8BC-8BD1-4431-8829-C93974F3188A}">
      <dsp:nvSpPr>
        <dsp:cNvPr id="0" name=""/>
        <dsp:cNvSpPr/>
      </dsp:nvSpPr>
      <dsp:spPr>
        <a:xfrm>
          <a:off x="170604" y="2454356"/>
          <a:ext cx="1139240" cy="11392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4DC22-D0A1-4790-841D-F1C2D272C3CC}">
      <dsp:nvSpPr>
        <dsp:cNvPr id="0" name=""/>
        <dsp:cNvSpPr/>
      </dsp:nvSpPr>
      <dsp:spPr>
        <a:xfrm>
          <a:off x="409845" y="2693596"/>
          <a:ext cx="660759" cy="6607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D96B7-53E1-4BDA-8507-FA2BBF3E8D2E}">
      <dsp:nvSpPr>
        <dsp:cNvPr id="0" name=""/>
        <dsp:cNvSpPr/>
      </dsp:nvSpPr>
      <dsp:spPr>
        <a:xfrm>
          <a:off x="1553967" y="2454356"/>
          <a:ext cx="2685351" cy="1139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Average medication and lab counts showed increased risk of readmission in high-risk individuals</a:t>
          </a:r>
          <a:endParaRPr lang="en-US" sz="1800" kern="1200"/>
        </a:p>
      </dsp:txBody>
      <dsp:txXfrm>
        <a:off x="1553967" y="2454356"/>
        <a:ext cx="2685351" cy="1139240"/>
      </dsp:txXfrm>
    </dsp:sp>
    <dsp:sp modelId="{B7CE272D-010C-4C97-BDC1-DC80BFD5810E}">
      <dsp:nvSpPr>
        <dsp:cNvPr id="0" name=""/>
        <dsp:cNvSpPr/>
      </dsp:nvSpPr>
      <dsp:spPr>
        <a:xfrm>
          <a:off x="4707221" y="2454356"/>
          <a:ext cx="1139240" cy="11392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CF0023-5609-490C-8C71-0A6E0526F9C4}">
      <dsp:nvSpPr>
        <dsp:cNvPr id="0" name=""/>
        <dsp:cNvSpPr/>
      </dsp:nvSpPr>
      <dsp:spPr>
        <a:xfrm>
          <a:off x="4946462" y="2693596"/>
          <a:ext cx="660759" cy="6607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12BA92-6BBC-498A-941E-90EED14AC08A}">
      <dsp:nvSpPr>
        <dsp:cNvPr id="0" name=""/>
        <dsp:cNvSpPr/>
      </dsp:nvSpPr>
      <dsp:spPr>
        <a:xfrm>
          <a:off x="6090584" y="2454356"/>
          <a:ext cx="2685351" cy="1139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Repeated ER visits were the major factor that led to readmission </a:t>
          </a:r>
          <a:endParaRPr lang="en-US" sz="1800" kern="1200"/>
        </a:p>
      </dsp:txBody>
      <dsp:txXfrm>
        <a:off x="6090584" y="2454356"/>
        <a:ext cx="2685351" cy="11392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4C711E-63F0-4586-A815-BAF81CA7FF91}">
      <dsp:nvSpPr>
        <dsp:cNvPr id="0" name=""/>
        <dsp:cNvSpPr/>
      </dsp:nvSpPr>
      <dsp:spPr>
        <a:xfrm>
          <a:off x="754272" y="31647"/>
          <a:ext cx="1510523" cy="14824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AD0C29-0AB6-4430-959B-A49321BD59E4}">
      <dsp:nvSpPr>
        <dsp:cNvPr id="0" name=""/>
        <dsp:cNvSpPr/>
      </dsp:nvSpPr>
      <dsp:spPr>
        <a:xfrm>
          <a:off x="754272" y="1657748"/>
          <a:ext cx="4315781" cy="635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0" i="0" kern="1200"/>
            <a:t>Group patients based on history and behavior into three groups:</a:t>
          </a:r>
          <a:endParaRPr lang="en-US" sz="2500" kern="1200"/>
        </a:p>
      </dsp:txBody>
      <dsp:txXfrm>
        <a:off x="754272" y="1657748"/>
        <a:ext cx="4315781" cy="635330"/>
      </dsp:txXfrm>
    </dsp:sp>
    <dsp:sp modelId="{A1E31FE7-40A4-476D-82A2-D7ACFD8D9E47}">
      <dsp:nvSpPr>
        <dsp:cNvPr id="0" name=""/>
        <dsp:cNvSpPr/>
      </dsp:nvSpPr>
      <dsp:spPr>
        <a:xfrm>
          <a:off x="754272" y="2359898"/>
          <a:ext cx="4315781" cy="1012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Low-Risk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Medium-Risk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High-Risk</a:t>
          </a:r>
          <a:endParaRPr lang="en-US" sz="1700" kern="1200"/>
        </a:p>
      </dsp:txBody>
      <dsp:txXfrm>
        <a:off x="754272" y="2359898"/>
        <a:ext cx="4315781" cy="1012730"/>
      </dsp:txXfrm>
    </dsp:sp>
    <dsp:sp modelId="{DF5E3DF6-06E2-4FA7-8BDA-9FB90F60C20C}">
      <dsp:nvSpPr>
        <dsp:cNvPr id="0" name=""/>
        <dsp:cNvSpPr/>
      </dsp:nvSpPr>
      <dsp:spPr>
        <a:xfrm>
          <a:off x="5825315" y="31647"/>
          <a:ext cx="1510523" cy="14824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5DE88-A457-4549-B749-C6DED5AB87B5}">
      <dsp:nvSpPr>
        <dsp:cNvPr id="0" name=""/>
        <dsp:cNvSpPr/>
      </dsp:nvSpPr>
      <dsp:spPr>
        <a:xfrm>
          <a:off x="5825315" y="1657748"/>
          <a:ext cx="4315781" cy="635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0" i="0" kern="1200"/>
            <a:t>How this helps:</a:t>
          </a:r>
          <a:endParaRPr lang="en-US" sz="2500" kern="1200"/>
        </a:p>
      </dsp:txBody>
      <dsp:txXfrm>
        <a:off x="5825315" y="1657748"/>
        <a:ext cx="4315781" cy="635330"/>
      </dsp:txXfrm>
    </dsp:sp>
    <dsp:sp modelId="{FFF804C9-DD3F-4D99-8184-56F482F737D1}">
      <dsp:nvSpPr>
        <dsp:cNvPr id="0" name=""/>
        <dsp:cNvSpPr/>
      </dsp:nvSpPr>
      <dsp:spPr>
        <a:xfrm>
          <a:off x="5825315" y="2359898"/>
          <a:ext cx="4315781" cy="1012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With patients segmented into groups, the hospital can identify certain groups that are more likely to be readmitted. Hospitals could prioritize discharge planning and patient follow-ups based on this segmentation.</a:t>
          </a:r>
          <a:endParaRPr lang="en-US" sz="1700" kern="1200"/>
        </a:p>
      </dsp:txBody>
      <dsp:txXfrm>
        <a:off x="5825315" y="2359898"/>
        <a:ext cx="4315781" cy="101273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02FC81-3E25-BF43-9C4A-5E2C5D62F38B}">
      <dsp:nvSpPr>
        <dsp:cNvPr id="0" name=""/>
        <dsp:cNvSpPr/>
      </dsp:nvSpPr>
      <dsp:spPr>
        <a:xfrm>
          <a:off x="0" y="0"/>
          <a:ext cx="3404803" cy="34042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452" tIns="330200" rIns="265452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 small patient cohort drives a disproportionate share of readmissions</a:t>
          </a:r>
        </a:p>
      </dsp:txBody>
      <dsp:txXfrm>
        <a:off x="0" y="1293625"/>
        <a:ext cx="3404803" cy="2042566"/>
      </dsp:txXfrm>
    </dsp:sp>
    <dsp:sp modelId="{669BFF04-0BD1-C542-8904-E5B1BA064BB7}">
      <dsp:nvSpPr>
        <dsp:cNvPr id="0" name=""/>
        <dsp:cNvSpPr/>
      </dsp:nvSpPr>
      <dsp:spPr>
        <a:xfrm>
          <a:off x="1191760" y="340427"/>
          <a:ext cx="1021283" cy="10212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623" tIns="12700" rIns="796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341323" y="489990"/>
        <a:ext cx="722157" cy="722157"/>
      </dsp:txXfrm>
    </dsp:sp>
    <dsp:sp modelId="{6402A507-2FA9-6044-BE4E-D98D697897A9}">
      <dsp:nvSpPr>
        <dsp:cNvPr id="0" name=""/>
        <dsp:cNvSpPr/>
      </dsp:nvSpPr>
      <dsp:spPr>
        <a:xfrm>
          <a:off x="0" y="3404205"/>
          <a:ext cx="3404803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EEFD5C-D40A-9F4E-9E13-E1BE61CA0418}">
      <dsp:nvSpPr>
        <dsp:cNvPr id="0" name=""/>
        <dsp:cNvSpPr/>
      </dsp:nvSpPr>
      <dsp:spPr>
        <a:xfrm>
          <a:off x="3745283" y="0"/>
          <a:ext cx="3404803" cy="340427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452" tIns="330200" rIns="265452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Prior ER utilization is the strongest predictor of 30-day return</a:t>
          </a:r>
        </a:p>
      </dsp:txBody>
      <dsp:txXfrm>
        <a:off x="3745283" y="1293625"/>
        <a:ext cx="3404803" cy="2042566"/>
      </dsp:txXfrm>
    </dsp:sp>
    <dsp:sp modelId="{B43017E8-D6B7-A947-98A0-99A929709238}">
      <dsp:nvSpPr>
        <dsp:cNvPr id="0" name=""/>
        <dsp:cNvSpPr/>
      </dsp:nvSpPr>
      <dsp:spPr>
        <a:xfrm>
          <a:off x="4937043" y="340427"/>
          <a:ext cx="1021283" cy="10212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623" tIns="12700" rIns="796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86606" y="489990"/>
        <a:ext cx="722157" cy="722157"/>
      </dsp:txXfrm>
    </dsp:sp>
    <dsp:sp modelId="{1B23C518-6636-B84F-BCFD-73690BAAEFF6}">
      <dsp:nvSpPr>
        <dsp:cNvPr id="0" name=""/>
        <dsp:cNvSpPr/>
      </dsp:nvSpPr>
      <dsp:spPr>
        <a:xfrm>
          <a:off x="3745283" y="3404205"/>
          <a:ext cx="3404803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7E326-5DE7-724E-82D5-288F996EA5C9}">
      <dsp:nvSpPr>
        <dsp:cNvPr id="0" name=""/>
        <dsp:cNvSpPr/>
      </dsp:nvSpPr>
      <dsp:spPr>
        <a:xfrm>
          <a:off x="7490566" y="0"/>
          <a:ext cx="3404803" cy="340427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452" tIns="330200" rIns="265452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Targeted follow-ups could reduce penalties and improve bed availability</a:t>
          </a:r>
        </a:p>
      </dsp:txBody>
      <dsp:txXfrm>
        <a:off x="7490566" y="1293625"/>
        <a:ext cx="3404803" cy="2042566"/>
      </dsp:txXfrm>
    </dsp:sp>
    <dsp:sp modelId="{1FA1E910-6CB7-8549-987D-74D47BD4920A}">
      <dsp:nvSpPr>
        <dsp:cNvPr id="0" name=""/>
        <dsp:cNvSpPr/>
      </dsp:nvSpPr>
      <dsp:spPr>
        <a:xfrm>
          <a:off x="8682326" y="340427"/>
          <a:ext cx="1021283" cy="10212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623" tIns="12700" rIns="796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831889" y="489990"/>
        <a:ext cx="722157" cy="722157"/>
      </dsp:txXfrm>
    </dsp:sp>
    <dsp:sp modelId="{95B4BFFB-66C7-4E49-AB6A-F91DAD59A58C}">
      <dsp:nvSpPr>
        <dsp:cNvPr id="0" name=""/>
        <dsp:cNvSpPr/>
      </dsp:nvSpPr>
      <dsp:spPr>
        <a:xfrm>
          <a:off x="7490566" y="3404205"/>
          <a:ext cx="3404803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F1EA3-E529-9E4B-8C5F-11D9975B28A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40D32-A64A-4A4F-845D-6D4C81245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08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2915-3418-934E-98CA-6D34017CB11F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45CD-605D-8C41-95C0-2416B0FDBA3D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73773-DDDF-C64C-A690-5C77190E1EB6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A370A-D805-BD47-90BB-F1CED02F9AE1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B9C2-2BE1-4E4B-A6C7-8444258AB657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1389-3171-FA4A-878B-F165FFD3F3F0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1AA8-EB92-B549-841A-5078C6B5BF9A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FCD0-3059-D140-BA56-DAC3E8C11E76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C6289-1486-B641-A4F1-B13D54FDB6F4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060B0-8CF7-3048-90B0-EB31AA271E0C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D2CC-5ED2-8B4C-8EAE-5AE6C50051EC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D2599-EAC5-2F47-99B4-7B79130FFD25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616EF-E660-424B-8B2D-AB98BAD74F68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C579-E035-5B4F-869A-51E802F80F5E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595C2-7A84-D94A-A443-629FC37B5478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57746-E160-D846-89CD-C4383FCA03B3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5951-4C0F-A347-B33A-BB0194B9262D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BE16E04-E15F-6745-95B6-C3E97E0F97DB}" type="datetime1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85DD-43C4-1466-D811-58EBAB94EB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Predicting Hospital Readmission Risk Using Patient &amp; Encounter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7B992A-E69E-B0C3-78A2-48C8B98DC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9158626" cy="86142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How analytics can help hospitals reduce cost and improve patient outcomes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5A0B2-2ECF-4B8B-3EB4-26C7A68A28EB}"/>
              </a:ext>
            </a:extLst>
          </p:cNvPr>
          <p:cNvSpPr txBox="1"/>
          <p:nvPr/>
        </p:nvSpPr>
        <p:spPr>
          <a:xfrm>
            <a:off x="8390833" y="5915940"/>
            <a:ext cx="3923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Miguel Velez</a:t>
            </a:r>
          </a:p>
          <a:p>
            <a:r>
              <a:rPr lang="en-US" dirty="0"/>
              <a:t>Business Intelligence &amp; Data Analyst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F64F48-72EE-43EE-BBF3-7F6B5D9A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861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20A67-E449-0944-1B55-76FE9F0A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Hospital readmissions increase cost and strain care capacity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8F6A-9E92-1FE8-5E13-76D3A634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</a:t>
            </a:fld>
            <a:endParaRPr lang="en-US" dirty="0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4CAA92C7-6CCF-1422-C0BC-69DF2FFA54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1121111"/>
              </p:ext>
            </p:extLst>
          </p:nvPr>
        </p:nvGraphicFramePr>
        <p:xfrm>
          <a:off x="1103312" y="2052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8239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5986-CC06-1BCA-656F-42BE4FA70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A910C9E-A073-D583-B97E-722CBE364A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03312" y="2052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B54CB-7AA2-CD14-31A7-6A1EFCD4C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93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D81273-DFB3-2FA0-E75B-A767EA000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295729"/>
            <a:ext cx="9252154" cy="1380007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Patient encounter data used to identify readmission patterns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8DE58-3AB6-1D3B-EA7C-024EA0703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FEDB504-1986-5CD6-DEFE-57B476ED0C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9569559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319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7ABDB8-72F9-F19B-1AF8-189C8C4B7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>
                <a:solidFill>
                  <a:srgbClr val="EBEBEB"/>
                </a:solidFill>
              </a:rPr>
              <a:t>Risk segmentation identifies high-risk patient behaviors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C6B80-B3B5-CD84-C331-8AE0A9827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009274"/>
            <a:ext cx="6188189" cy="421454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</a:rPr>
              <a:t>Risk segmentation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</a:rPr>
              <a:t>Map patients that are considered High, Med, and Low risk for readmission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</a:rPr>
              <a:t>Consider past behavior, medication, and history of readmission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Predictive modeling identifies patterns driving readmission risk 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Prior ER Visits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Medication Count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Clinical history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ardiogram">
            <a:extLst>
              <a:ext uri="{FF2B5EF4-FFF2-40B4-BE49-F238E27FC236}">
                <a16:creationId xmlns:a16="http://schemas.microsoft.com/office/drawing/2014/main" id="{A398774E-E80B-3617-18DA-9047D2B8AC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85" r="32088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F64FA-9077-36D8-90EE-9B00B1ADE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938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A64E3-BEE7-5C04-A98A-CF869135A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 ER visits strongly predict 30-day readmission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0795E36-FD75-1386-819A-DB91DBAC6E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4287577"/>
              </p:ext>
            </p:extLst>
          </p:nvPr>
        </p:nvGraphicFramePr>
        <p:xfrm>
          <a:off x="1103312" y="2052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313A1-A643-FED6-025B-CE5DA0E88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221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ECDD3D-C341-1B06-5E09-C84D6B679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913" y="295729"/>
            <a:ext cx="9252154" cy="134391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Patients grouped into Low / Medium / High risk cohorts </a:t>
            </a:r>
            <a:r>
              <a:rPr lang="en-US" dirty="0">
                <a:solidFill>
                  <a:srgbClr val="EBEBEB"/>
                </a:solidFill>
              </a:rPr>
              <a:t>	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AACB9-D451-DF55-ECCF-02329452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F0DC9140-011A-1D77-F927-40AF007C79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6104754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5989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14A20-A1EA-0E5C-D265-D38BBA986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04" y="129490"/>
            <a:ext cx="9404723" cy="892274"/>
          </a:xfrm>
        </p:spPr>
        <p:txBody>
          <a:bodyPr/>
          <a:lstStyle/>
          <a:p>
            <a:r>
              <a:rPr lang="en-US" dirty="0"/>
              <a:t>Data Visualized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6D2D7-F534-0D2E-4DEC-D75AD14F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42CDB24-E9C8-86DB-5EA1-6CBCCD3F09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7440108"/>
              </p:ext>
            </p:extLst>
          </p:nvPr>
        </p:nvGraphicFramePr>
        <p:xfrm>
          <a:off x="107843" y="1439836"/>
          <a:ext cx="4642578" cy="2420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6B7B9BC-CB8E-AF0D-F755-D42F01829B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172626"/>
              </p:ext>
            </p:extLst>
          </p:nvPr>
        </p:nvGraphicFramePr>
        <p:xfrm>
          <a:off x="163937" y="4346380"/>
          <a:ext cx="4530390" cy="2420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4036AA7-3DD3-B355-DE46-81BADB5C6C3D}"/>
              </a:ext>
            </a:extLst>
          </p:cNvPr>
          <p:cNvSpPr txBox="1"/>
          <p:nvPr/>
        </p:nvSpPr>
        <p:spPr>
          <a:xfrm>
            <a:off x="289944" y="1230800"/>
            <a:ext cx="4449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Table 1: The average medication of patients readmitted in &lt;30 days.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6CB48-06D2-4D95-2E94-205E071FF915}"/>
              </a:ext>
            </a:extLst>
          </p:cNvPr>
          <p:cNvSpPr txBox="1"/>
          <p:nvPr/>
        </p:nvSpPr>
        <p:spPr>
          <a:xfrm>
            <a:off x="107843" y="4069381"/>
            <a:ext cx="4530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Table 2: the average lab counts of patients readmitted in &lt;30 days.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1FDCE42-FC14-9A7D-8945-4751525682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0382328"/>
              </p:ext>
            </p:extLst>
          </p:nvPr>
        </p:nvGraphicFramePr>
        <p:xfrm>
          <a:off x="5600027" y="1439835"/>
          <a:ext cx="4601660" cy="2420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548CFD4-1EE7-D19E-D3DC-AFB81021A9A7}"/>
              </a:ext>
            </a:extLst>
          </p:cNvPr>
          <p:cNvSpPr txBox="1"/>
          <p:nvPr/>
        </p:nvSpPr>
        <p:spPr>
          <a:xfrm>
            <a:off x="5579494" y="1162838"/>
            <a:ext cx="4449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Table 3: The average ER visits of patients readmitted in &lt;30 days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322851-2EC3-742E-2D0F-7862307D81C2}"/>
              </a:ext>
            </a:extLst>
          </p:cNvPr>
          <p:cNvSpPr txBox="1"/>
          <p:nvPr/>
        </p:nvSpPr>
        <p:spPr>
          <a:xfrm>
            <a:off x="5772587" y="4550917"/>
            <a:ext cx="4256540" cy="1477328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While average medication and lab counts remain higher in high-risk individuals, the average number of ER visits in the high-risk group is significantly higher than other groups.</a:t>
            </a:r>
          </a:p>
        </p:txBody>
      </p:sp>
    </p:spTree>
    <p:extLst>
      <p:ext uri="{BB962C8B-B14F-4D97-AF65-F5344CB8AC3E}">
        <p14:creationId xmlns:p14="http://schemas.microsoft.com/office/powerpoint/2010/main" val="4142065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8A1C6-75F6-4C46-F5A9-E041392B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96" y="331839"/>
            <a:ext cx="7715983" cy="16223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Targeting 7% high-risk patients could reduce penalties 	</a:t>
            </a:r>
            <a:br>
              <a:rPr lang="en-US" dirty="0">
                <a:solidFill>
                  <a:srgbClr val="EBEBEB"/>
                </a:solidFill>
              </a:rPr>
            </a:br>
            <a:endParaRPr lang="en-US" dirty="0">
              <a:solidFill>
                <a:srgbClr val="EBEBEB"/>
              </a:solidFill>
            </a:endParaRP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AC3BF0FA-36FA-4CE9-840E-F7C3A8F16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281796" y="947378"/>
            <a:ext cx="6858001" cy="4963245"/>
          </a:xfrm>
          <a:custGeom>
            <a:avLst/>
            <a:gdLst>
              <a:gd name="connsiteX0" fmla="*/ 6858001 w 6858001"/>
              <a:gd name="connsiteY0" fmla="*/ 1177 h 4963245"/>
              <a:gd name="connsiteX1" fmla="*/ 6858001 w 6858001"/>
              <a:gd name="connsiteY1" fmla="*/ 1344715 h 4963245"/>
              <a:gd name="connsiteX2" fmla="*/ 6858000 w 6858001"/>
              <a:gd name="connsiteY2" fmla="*/ 1344715 h 4963245"/>
              <a:gd name="connsiteX3" fmla="*/ 6858000 w 6858001"/>
              <a:gd name="connsiteY3" fmla="*/ 4963245 h 4963245"/>
              <a:gd name="connsiteX4" fmla="*/ 0 w 6858001"/>
              <a:gd name="connsiteY4" fmla="*/ 4963244 h 4963245"/>
              <a:gd name="connsiteX5" fmla="*/ 0 w 6858001"/>
              <a:gd name="connsiteY5" fmla="*/ 900697 h 4963245"/>
              <a:gd name="connsiteX6" fmla="*/ 1 w 6858001"/>
              <a:gd name="connsiteY6" fmla="*/ 900697 h 4963245"/>
              <a:gd name="connsiteX7" fmla="*/ 1 w 6858001"/>
              <a:gd name="connsiteY7" fmla="*/ 0 h 4963245"/>
              <a:gd name="connsiteX8" fmla="*/ 40463 w 6858001"/>
              <a:gd name="connsiteY8" fmla="*/ 5883 h 4963245"/>
              <a:gd name="connsiteX9" fmla="*/ 159107 w 6858001"/>
              <a:gd name="connsiteY9" fmla="*/ 23196 h 4963245"/>
              <a:gd name="connsiteX10" fmla="*/ 245518 w 6858001"/>
              <a:gd name="connsiteY10" fmla="*/ 35299 h 4963245"/>
              <a:gd name="connsiteX11" fmla="*/ 348388 w 6858001"/>
              <a:gd name="connsiteY11" fmla="*/ 48073 h 4963245"/>
              <a:gd name="connsiteX12" fmla="*/ 470460 w 6858001"/>
              <a:gd name="connsiteY12" fmla="*/ 63369 h 4963245"/>
              <a:gd name="connsiteX13" fmla="*/ 605563 w 6858001"/>
              <a:gd name="connsiteY13" fmla="*/ 79506 h 4963245"/>
              <a:gd name="connsiteX14" fmla="*/ 757810 w 6858001"/>
              <a:gd name="connsiteY14" fmla="*/ 96483 h 4963245"/>
              <a:gd name="connsiteX15" fmla="*/ 923774 w 6858001"/>
              <a:gd name="connsiteY15" fmla="*/ 114469 h 4963245"/>
              <a:gd name="connsiteX16" fmla="*/ 1104139 w 6858001"/>
              <a:gd name="connsiteY16" fmla="*/ 132454 h 4963245"/>
              <a:gd name="connsiteX17" fmla="*/ 1296163 w 6858001"/>
              <a:gd name="connsiteY17" fmla="*/ 150776 h 4963245"/>
              <a:gd name="connsiteX18" fmla="*/ 1503275 w 6858001"/>
              <a:gd name="connsiteY18" fmla="*/ 167753 h 4963245"/>
              <a:gd name="connsiteX19" fmla="*/ 1719988 w 6858001"/>
              <a:gd name="connsiteY19" fmla="*/ 184058 h 4963245"/>
              <a:gd name="connsiteX20" fmla="*/ 1949045 w 6858001"/>
              <a:gd name="connsiteY20" fmla="*/ 198849 h 4963245"/>
              <a:gd name="connsiteX21" fmla="*/ 2187703 w 6858001"/>
              <a:gd name="connsiteY21" fmla="*/ 212969 h 4963245"/>
              <a:gd name="connsiteX22" fmla="*/ 2436649 w 6858001"/>
              <a:gd name="connsiteY22" fmla="*/ 226248 h 4963245"/>
              <a:gd name="connsiteX23" fmla="*/ 2564208 w 6858001"/>
              <a:gd name="connsiteY23" fmla="*/ 230955 h 4963245"/>
              <a:gd name="connsiteX24" fmla="*/ 2694509 w 6858001"/>
              <a:gd name="connsiteY24" fmla="*/ 236165 h 4963245"/>
              <a:gd name="connsiteX25" fmla="*/ 2826868 w 6858001"/>
              <a:gd name="connsiteY25" fmla="*/ 241040 h 4963245"/>
              <a:gd name="connsiteX26" fmla="*/ 2959914 w 6858001"/>
              <a:gd name="connsiteY26" fmla="*/ 244234 h 4963245"/>
              <a:gd name="connsiteX27" fmla="*/ 3095702 w 6858001"/>
              <a:gd name="connsiteY27" fmla="*/ 247091 h 4963245"/>
              <a:gd name="connsiteX28" fmla="*/ 3232862 w 6858001"/>
              <a:gd name="connsiteY28" fmla="*/ 250117 h 4963245"/>
              <a:gd name="connsiteX29" fmla="*/ 3372765 w 6858001"/>
              <a:gd name="connsiteY29" fmla="*/ 252134 h 4963245"/>
              <a:gd name="connsiteX30" fmla="*/ 3514040 w 6858001"/>
              <a:gd name="connsiteY30" fmla="*/ 252134 h 4963245"/>
              <a:gd name="connsiteX31" fmla="*/ 3656686 w 6858001"/>
              <a:gd name="connsiteY31" fmla="*/ 253142 h 4963245"/>
              <a:gd name="connsiteX32" fmla="*/ 3800704 w 6858001"/>
              <a:gd name="connsiteY32" fmla="*/ 252134 h 4963245"/>
              <a:gd name="connsiteX33" fmla="*/ 3946780 w 6858001"/>
              <a:gd name="connsiteY33" fmla="*/ 250117 h 4963245"/>
              <a:gd name="connsiteX34" fmla="*/ 4092855 w 6858001"/>
              <a:gd name="connsiteY34" fmla="*/ 248268 h 4963245"/>
              <a:gd name="connsiteX35" fmla="*/ 4240988 w 6858001"/>
              <a:gd name="connsiteY35" fmla="*/ 244234 h 4963245"/>
              <a:gd name="connsiteX36" fmla="*/ 4390492 w 6858001"/>
              <a:gd name="connsiteY36" fmla="*/ 240032 h 4963245"/>
              <a:gd name="connsiteX37" fmla="*/ 4539997 w 6858001"/>
              <a:gd name="connsiteY37" fmla="*/ 235157 h 4963245"/>
              <a:gd name="connsiteX38" fmla="*/ 4690873 w 6858001"/>
              <a:gd name="connsiteY38" fmla="*/ 228266 h 4963245"/>
              <a:gd name="connsiteX39" fmla="*/ 4843120 w 6858001"/>
              <a:gd name="connsiteY39" fmla="*/ 220029 h 4963245"/>
              <a:gd name="connsiteX40" fmla="*/ 4996054 w 6858001"/>
              <a:gd name="connsiteY40" fmla="*/ 212129 h 4963245"/>
              <a:gd name="connsiteX41" fmla="*/ 5148987 w 6858001"/>
              <a:gd name="connsiteY41" fmla="*/ 202044 h 4963245"/>
              <a:gd name="connsiteX42" fmla="*/ 5303978 w 6858001"/>
              <a:gd name="connsiteY42" fmla="*/ 189941 h 4963245"/>
              <a:gd name="connsiteX43" fmla="*/ 5456911 w 6858001"/>
              <a:gd name="connsiteY43" fmla="*/ 177839 h 4963245"/>
              <a:gd name="connsiteX44" fmla="*/ 5612588 w 6858001"/>
              <a:gd name="connsiteY44" fmla="*/ 163887 h 4963245"/>
              <a:gd name="connsiteX45" fmla="*/ 5768950 w 6858001"/>
              <a:gd name="connsiteY45" fmla="*/ 148591 h 4963245"/>
              <a:gd name="connsiteX46" fmla="*/ 5923255 w 6858001"/>
              <a:gd name="connsiteY46" fmla="*/ 132455 h 4963245"/>
              <a:gd name="connsiteX47" fmla="*/ 6079618 w 6858001"/>
              <a:gd name="connsiteY47" fmla="*/ 113629 h 4963245"/>
              <a:gd name="connsiteX48" fmla="*/ 6235294 w 6858001"/>
              <a:gd name="connsiteY48" fmla="*/ 93458 h 4963245"/>
              <a:gd name="connsiteX49" fmla="*/ 6391657 w 6858001"/>
              <a:gd name="connsiteY49" fmla="*/ 73455 h 4963245"/>
              <a:gd name="connsiteX50" fmla="*/ 6547333 w 6858001"/>
              <a:gd name="connsiteY50" fmla="*/ 50091 h 4963245"/>
              <a:gd name="connsiteX51" fmla="*/ 6702324 w 6858001"/>
              <a:gd name="connsiteY51" fmla="*/ 26222 h 4963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4963245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4963245"/>
                </a:lnTo>
                <a:lnTo>
                  <a:pt x="0" y="4963244"/>
                </a:lnTo>
                <a:lnTo>
                  <a:pt x="0" y="900697"/>
                </a:lnTo>
                <a:lnTo>
                  <a:pt x="1" y="90069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2" name="Graphic 11" descr="Doctor">
            <a:extLst>
              <a:ext uri="{FF2B5EF4-FFF2-40B4-BE49-F238E27FC236}">
                <a16:creationId xmlns:a16="http://schemas.microsoft.com/office/drawing/2014/main" id="{27D6FB2A-5C4E-5F5C-665A-1779CBA0A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871" y="1721993"/>
            <a:ext cx="3414010" cy="3414010"/>
          </a:xfrm>
          <a:prstGeom prst="rect">
            <a:avLst/>
          </a:prstGeom>
          <a:effectLst/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9ABF8-B534-2278-5759-CF324BE8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0164142-498A-0C55-7C66-343DDF42F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Patients with frequent ER visits are more likely to be readmitted within 30 days 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This behavior can be attributed to not following discharge instructions or post medical care recommendations, lack of patient follow-ups, and treating the ER as a primary care solution.</a:t>
            </a:r>
          </a:p>
        </p:txBody>
      </p:sp>
    </p:spTree>
    <p:extLst>
      <p:ext uri="{BB962C8B-B14F-4D97-AF65-F5344CB8AC3E}">
        <p14:creationId xmlns:p14="http://schemas.microsoft.com/office/powerpoint/2010/main" val="794769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7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A9EB8-F74E-9175-2E1A-0D5F2856A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US" sz="2900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EC45D-A4EB-F614-6123-9D37EB0FA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r>
              <a:rPr lang="en-US" dirty="0"/>
              <a:t>By addressing the high-risk group, which accounts for 7% of the total, hospitals can;</a:t>
            </a:r>
          </a:p>
          <a:p>
            <a:pPr lvl="1"/>
            <a:r>
              <a:rPr lang="en-US" dirty="0"/>
              <a:t> reduce penalties</a:t>
            </a:r>
          </a:p>
          <a:p>
            <a:pPr lvl="1"/>
            <a:r>
              <a:rPr lang="en-US" dirty="0"/>
              <a:t>improve bed availability</a:t>
            </a:r>
          </a:p>
          <a:p>
            <a:pPr lvl="1"/>
            <a:r>
              <a:rPr lang="en-US" dirty="0"/>
              <a:t>provide better care coordination to high-risk individuals. </a:t>
            </a:r>
          </a:p>
          <a:p>
            <a:r>
              <a:rPr lang="en-US" dirty="0"/>
              <a:t>Recommended interventions</a:t>
            </a:r>
          </a:p>
          <a:p>
            <a:pPr lvl="1"/>
            <a:r>
              <a:rPr lang="en-US" dirty="0"/>
              <a:t>Flag high-risk individuals before discharge</a:t>
            </a:r>
          </a:p>
          <a:p>
            <a:pPr lvl="1"/>
            <a:r>
              <a:rPr lang="en-US" dirty="0"/>
              <a:t>Assign follow-up calls within 48 hours</a:t>
            </a:r>
          </a:p>
          <a:p>
            <a:pPr lvl="1"/>
            <a:r>
              <a:rPr lang="en-US" dirty="0"/>
              <a:t>Medication adherence checks</a:t>
            </a:r>
          </a:p>
          <a:p>
            <a:pPr lvl="1"/>
            <a:r>
              <a:rPr lang="en-US" dirty="0"/>
              <a:t>Care coordination referrals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6FA6F-ECBA-483F-6C11-03A240BE0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2612" y="6400005"/>
            <a:ext cx="633127" cy="301752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fld id="{D57F1E4F-1CFF-5643-939E-02111984F565}" type="slidenum">
              <a:rPr lang="en-US" sz="1100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10</a:t>
            </a:fld>
            <a:endParaRPr lang="en-US" sz="11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051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8E160E-0853-F455-6330-7ED194E8D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Key Takeaways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83110-0BE9-F2E0-3238-8404065F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F770473-6EC7-58A3-065B-A528E3B6E7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2413004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11749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14365</TotalTime>
  <Words>510</Words>
  <Application>Microsoft Macintosh PowerPoint</Application>
  <PresentationFormat>Widescreen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Times New Roman</vt:lpstr>
      <vt:lpstr>Wingdings 3</vt:lpstr>
      <vt:lpstr>Ion</vt:lpstr>
      <vt:lpstr>Predicting Hospital Readmission Risk Using Patient &amp; Encounter Data</vt:lpstr>
      <vt:lpstr>Hospital readmissions increase cost and strain care capacity</vt:lpstr>
      <vt:lpstr>Data Overview</vt:lpstr>
      <vt:lpstr>Patient encounter data used to identify readmission patterns</vt:lpstr>
      <vt:lpstr>Risk segmentation identifies high-risk patient behaviors</vt:lpstr>
      <vt:lpstr>Frequent ER visits strongly predict 30-day readmission</vt:lpstr>
      <vt:lpstr>Patients grouped into Low / Medium / High risk cohorts  </vt:lpstr>
      <vt:lpstr>Data Visualized </vt:lpstr>
      <vt:lpstr>Targeting 7% high-risk patients could reduce penalties   </vt:lpstr>
      <vt:lpstr>Recommendations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Velez</dc:creator>
  <cp:lastModifiedBy>Miguel Velez</cp:lastModifiedBy>
  <cp:revision>10</cp:revision>
  <dcterms:created xsi:type="dcterms:W3CDTF">2026-02-24T00:40:43Z</dcterms:created>
  <dcterms:modified xsi:type="dcterms:W3CDTF">2026-03-06T00:06:40Z</dcterms:modified>
</cp:coreProperties>
</file>